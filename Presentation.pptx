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1C2E"/>
    <a:srgbClr val="EDEAF5"/>
    <a:srgbClr val="F4F0E8"/>
    <a:srgbClr val="F7EDD4"/>
    <a:srgbClr val="5C4E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FB5147-9092-82F7-DE01-967084AD26D9}" v="408" dt="2026-04-23T12:56:54.325"/>
    <p1510:client id="{7686CDA2-624F-062A-4E09-5DC41C2B8824}" v="202" dt="2026-04-23T14:24:36.441"/>
    <p1510:client id="{9F0BD1B6-2DBE-8297-5B7A-32CCC9D269DB}" v="29" dt="2026-04-23T07:33:16.472"/>
    <p1510:client id="{F9C610F3-1AC3-C66D-F0B2-CFE0022ADD9D}" v="382" dt="2026-04-23T08:18:18.6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839400-3749-41ED-915C-8C2FFF36C984}" type="datetimeFigureOut"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5CE564-7738-4C63-9925-22604E99E4E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833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289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311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187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986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409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5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423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87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23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279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616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5668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0877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-1097280"/>
            <a:ext cx="3657600" cy="3657600"/>
          </a:xfrm>
          <a:prstGeom prst="ellipse">
            <a:avLst/>
          </a:prstGeom>
          <a:solidFill>
            <a:srgbClr val="2A2A40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-640080"/>
            <a:ext cx="2743200" cy="2743200"/>
          </a:xfrm>
          <a:prstGeom prst="ellipse">
            <a:avLst/>
          </a:prstGeom>
          <a:solidFill>
            <a:srgbClr val="252538"/>
          </a:solidFill>
          <a:ln w="12700">
            <a:solidFill>
              <a:srgbClr val="252538"/>
            </a:solidFill>
            <a:prstDash val="solid"/>
          </a:ln>
        </p:spPr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2B31506-4735-CF3B-7BA1-51663D8B059E}"/>
              </a:ext>
            </a:extLst>
          </p:cNvPr>
          <p:cNvGrpSpPr/>
          <p:nvPr/>
        </p:nvGrpSpPr>
        <p:grpSpPr>
          <a:xfrm>
            <a:off x="457200" y="1711811"/>
            <a:ext cx="9144000" cy="3282696"/>
            <a:chOff x="457200" y="1005840"/>
            <a:chExt cx="9144000" cy="3282696"/>
          </a:xfrm>
        </p:grpSpPr>
        <p:sp>
          <p:nvSpPr>
            <p:cNvPr id="5" name="Text 3"/>
            <p:cNvSpPr/>
            <p:nvPr/>
          </p:nvSpPr>
          <p:spPr>
            <a:xfrm>
              <a:off x="457200" y="1005840"/>
              <a:ext cx="7315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kern="0" spc="400">
                  <a:solidFill>
                    <a:srgbClr val="F5A623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TECHNICAL REPORT  ·  MACHINE LEARNING</a:t>
              </a:r>
              <a:endParaRPr lang="en-US" sz="950"/>
            </a:p>
          </p:txBody>
        </p:sp>
        <p:sp>
          <p:nvSpPr>
            <p:cNvPr id="6" name="Text 4"/>
            <p:cNvSpPr/>
            <p:nvPr/>
          </p:nvSpPr>
          <p:spPr>
            <a:xfrm>
              <a:off x="457200" y="1463040"/>
              <a:ext cx="9144000" cy="2194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5200" b="1">
                  <a:solidFill>
                    <a:schemeClr val="bg2">
                      <a:lumMod val="76000"/>
                    </a:schemeClr>
                  </a:solidFill>
                  <a:latin typeface="Trebuchet MS"/>
                  <a:ea typeface="Trebuchet MS" pitchFamily="34" charset="-122"/>
                  <a:cs typeface="Trebuchet MS" pitchFamily="34" charset="-120"/>
                </a:rPr>
                <a:t>Delivery Delay Prediction</a:t>
              </a:r>
              <a:endParaRPr lang="en-US" sz="5200">
                <a:solidFill>
                  <a:schemeClr val="bg2">
                    <a:lumMod val="76000"/>
                  </a:schemeClr>
                </a:solidFill>
                <a:latin typeface="Trebuchet MS"/>
              </a:endParaRPr>
            </a:p>
            <a:p>
              <a:pPr marL="0" indent="0">
                <a:lnSpc>
                  <a:spcPct val="110000"/>
                </a:lnSpc>
                <a:buNone/>
              </a:pPr>
              <a:r>
                <a:rPr lang="en-US" sz="5200" b="1">
                  <a:solidFill>
                    <a:schemeClr val="bg2">
                      <a:lumMod val="76000"/>
                    </a:schemeClr>
                  </a:solidFill>
                  <a:latin typeface="Trebuchet MS"/>
                  <a:ea typeface="Trebuchet MS" pitchFamily="34" charset="-122"/>
                  <a:cs typeface="Trebuchet MS" pitchFamily="34" charset="-120"/>
                </a:rPr>
                <a:t>&amp; Intelligent Scheduling</a:t>
              </a:r>
              <a:endParaRPr lang="en-US" sz="5200">
                <a:solidFill>
                  <a:schemeClr val="bg2">
                    <a:lumMod val="76000"/>
                  </a:schemeClr>
                </a:solidFill>
                <a:latin typeface="Trebuchet MS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457200" y="3749040"/>
              <a:ext cx="82296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i="1">
                  <a:solidFill>
                    <a:srgbClr val="9A97AD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ML-based Decision Support System for Supply Chain Optimization</a:t>
              </a:r>
              <a:endParaRPr lang="en-US" sz="1700"/>
            </a:p>
          </p:txBody>
        </p:sp>
        <p:sp>
          <p:nvSpPr>
            <p:cNvPr id="8" name="Shape 6"/>
            <p:cNvSpPr/>
            <p:nvPr/>
          </p:nvSpPr>
          <p:spPr>
            <a:xfrm>
              <a:off x="457200" y="4251960"/>
              <a:ext cx="3200400" cy="36576"/>
            </a:xfrm>
            <a:prstGeom prst="rect">
              <a:avLst/>
            </a:prstGeom>
            <a:solidFill>
              <a:srgbClr val="F5A623"/>
            </a:solidFill>
            <a:ln w="12700">
              <a:solidFill>
                <a:srgbClr val="F5A623"/>
              </a:solidFill>
              <a:prstDash val="solid"/>
            </a:ln>
          </p:spPr>
        </p:sp>
      </p:grpSp>
      <p:sp>
        <p:nvSpPr>
          <p:cNvPr id="10" name="Text 8"/>
          <p:cNvSpPr/>
          <p:nvPr/>
        </p:nvSpPr>
        <p:spPr>
          <a:xfrm>
            <a:off x="10515600" y="6217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>
              <a:solidFill>
                <a:srgbClr val="F5A623"/>
              </a:solidFill>
              <a:latin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2857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C47F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· PROBLEM STATEMENT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411480" y="831011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C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600"/>
          </a:p>
        </p:txBody>
      </p:sp>
      <p:sp>
        <p:nvSpPr>
          <p:cNvPr id="4" name="Shape 2"/>
          <p:cNvSpPr/>
          <p:nvPr/>
        </p:nvSpPr>
        <p:spPr>
          <a:xfrm>
            <a:off x="411480" y="1463040"/>
            <a:ext cx="3566160" cy="4389120"/>
          </a:xfrm>
          <a:prstGeom prst="rect">
            <a:avLst/>
          </a:prstGeom>
          <a:solidFill>
            <a:srgbClr val="F7EDD4"/>
          </a:solidFill>
          <a:ln w="6350">
            <a:solidFill>
              <a:srgbClr val="E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2648" y="1924266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solidFill>
                  <a:schemeClr val="bg2">
                    <a:lumMod val="76000"/>
                  </a:schemeClr>
                </a:solidFill>
                <a:latin typeface="Batang"/>
                <a:ea typeface="Batang"/>
              </a:rPr>
              <a:t>Inefficient Delivery Planning</a:t>
            </a:r>
            <a:endParaRPr lang="en-US" sz="2000" b="1">
              <a:solidFill>
                <a:schemeClr val="bg2">
                  <a:lumMod val="76000"/>
                </a:schemeClr>
              </a:solidFill>
              <a:latin typeface="Batang"/>
              <a:ea typeface="Batang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8271" y="2468880"/>
            <a:ext cx="294816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solidFill>
                  <a:srgbClr val="3D3B58"/>
                </a:solidFill>
                <a:latin typeface="Batang"/>
                <a:ea typeface="Batang"/>
                <a:cs typeface="+mn-lt"/>
              </a:rPr>
              <a:t>Current scheduling relies on static rules (distance, priority) instead of adaptive, data-driven decision-making, leading to suboptimal execution.</a:t>
            </a:r>
            <a:endParaRPr lang="en-US">
              <a:latin typeface="Batang"/>
              <a:ea typeface="Batang"/>
              <a:cs typeface="+mn-lt"/>
            </a:endParaRPr>
          </a:p>
          <a:p>
            <a:pPr marL="0" indent="0">
              <a:lnSpc>
                <a:spcPct val="135000"/>
              </a:lnSpc>
              <a:buNone/>
            </a:pPr>
            <a:endParaRPr lang="en-US" dirty="0">
              <a:solidFill>
                <a:srgbClr val="3D3B58"/>
              </a:solidFill>
              <a:latin typeface="Trebuchet MS"/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70248" y="1463040"/>
            <a:ext cx="3566160" cy="4389120"/>
          </a:xfrm>
          <a:prstGeom prst="rect">
            <a:avLst/>
          </a:prstGeom>
          <a:solidFill>
            <a:srgbClr val="F7EDD4"/>
          </a:solidFill>
          <a:ln w="6350">
            <a:solidFill>
              <a:srgbClr val="E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71416" y="1924266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solidFill>
                  <a:srgbClr val="1C1C2E"/>
                </a:solidFill>
                <a:latin typeface="Batang"/>
                <a:ea typeface="Batang"/>
                <a:cs typeface="+mn-lt"/>
              </a:rPr>
              <a:t>Ignoring Compounded Risk</a:t>
            </a:r>
            <a:endParaRPr lang="en-US" sz="2000" b="1">
              <a:latin typeface="Batang"/>
              <a:ea typeface="Batang"/>
              <a:cs typeface="+mn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471416" y="2468880"/>
            <a:ext cx="316382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>
                <a:solidFill>
                  <a:srgbClr val="3D3B58"/>
                </a:solidFill>
                <a:latin typeface="Batang"/>
                <a:ea typeface="Batang"/>
                <a:cs typeface="+mn-lt"/>
              </a:rPr>
              <a:t>Delivery outcomes depend on interacting factors like weather, traffic, and distance, but these are not evaluated together, resulting in underestimated risk.</a:t>
            </a:r>
            <a:endParaRPr lang="en-US">
              <a:latin typeface="Batang"/>
              <a:ea typeface="Batang"/>
              <a:cs typeface="+mn-lt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129016" y="1463040"/>
            <a:ext cx="3566160" cy="4389120"/>
          </a:xfrm>
          <a:prstGeom prst="rect">
            <a:avLst/>
          </a:prstGeom>
          <a:solidFill>
            <a:srgbClr val="F7EDD4"/>
          </a:solidFill>
          <a:ln w="6350">
            <a:solidFill>
              <a:srgbClr val="E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30184" y="1737360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solidFill>
                  <a:srgbClr val="1C1C2E"/>
                </a:solidFill>
                <a:latin typeface="Batang"/>
                <a:ea typeface="Batang"/>
                <a:cs typeface="+mn-lt"/>
              </a:rPr>
              <a:t>Misaligned Prioritization</a:t>
            </a:r>
            <a:endParaRPr lang="en-US" sz="2000" b="1">
              <a:latin typeface="Batang"/>
              <a:ea typeface="Batang"/>
              <a:cs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330184" y="2281974"/>
            <a:ext cx="316382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dirty="0">
                <a:solidFill>
                  <a:srgbClr val="3D3B58"/>
                </a:solidFill>
                <a:latin typeface="Batang"/>
                <a:ea typeface="Batang"/>
                <a:cs typeface="+mn-lt"/>
              </a:rPr>
              <a:t>Priority labels do not guarantee timely delivery, as they fail to account for operational risk and real-world conditions.</a:t>
            </a:r>
            <a:endParaRPr lang="en-US">
              <a:latin typeface="Batang"/>
              <a:ea typeface="Batang"/>
              <a:cs typeface="+mn-lt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25857" y="6140858"/>
            <a:ext cx="11338560" cy="457200"/>
          </a:xfrm>
          <a:prstGeom prst="rect">
            <a:avLst/>
          </a:prstGeom>
          <a:solidFill>
            <a:srgbClr val="F4F0E8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14476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>
                <a:solidFill>
                  <a:srgbClr val="1C1C2E"/>
                </a:solidFill>
                <a:latin typeface="Batang"/>
                <a:ea typeface="Batang"/>
              </a:rPr>
              <a:t>Current systems fail not due to lack of data, but due to the inability to translate it into dynamic, risk-aware decisions.</a:t>
            </a:r>
            <a:endParaRPr lang="en-US" sz="1500" i="1">
              <a:solidFill>
                <a:srgbClr val="1C1C2E"/>
              </a:solidFill>
              <a:latin typeface="Batang"/>
              <a:ea typeface="Batang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66517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· DATA ARCHITECTURE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411480" y="66895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chemeClr val="bg2">
                    <a:lumMod val="76000"/>
                  </a:schemeClr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Four Sources. One Unified Frame.</a:t>
            </a:r>
            <a:endParaRPr lang="en-US" sz="3400">
              <a:solidFill>
                <a:schemeClr val="bg2">
                  <a:lumMod val="76000"/>
                </a:schemeClr>
              </a:solidFill>
              <a:latin typeface="Trebuchet MS"/>
              <a:ea typeface="Calibri"/>
              <a:cs typeface="Calibri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271623" y="5152270"/>
            <a:ext cx="7589520" cy="822960"/>
          </a:xfrm>
          <a:prstGeom prst="rect">
            <a:avLst/>
          </a:prstGeom>
          <a:solidFill>
            <a:srgbClr val="2A2A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71623" y="5212367"/>
            <a:ext cx="7589520" cy="7315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50" b="1">
                <a:solidFill>
                  <a:srgbClr val="002060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✦  Merged Dataset  ·  Zero Missing Values  ·  No Duplicates  ✦</a:t>
            </a:r>
            <a:endParaRPr lang="en-US" sz="1250">
              <a:solidFill>
                <a:srgbClr val="002060"/>
              </a:solidFill>
              <a:latin typeface="Trebuchet MS"/>
              <a:ea typeface="Calibri"/>
              <a:cs typeface="Calibri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A6E1A8C-884C-977B-2A08-2CC31E62B862}"/>
              </a:ext>
            </a:extLst>
          </p:cNvPr>
          <p:cNvGrpSpPr/>
          <p:nvPr/>
        </p:nvGrpSpPr>
        <p:grpSpPr>
          <a:xfrm>
            <a:off x="416944" y="1718093"/>
            <a:ext cx="10596113" cy="3262432"/>
            <a:chOff x="416944" y="1358659"/>
            <a:chExt cx="10596113" cy="326243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B215873-D711-A015-911C-A2DBAE6445D1}"/>
                </a:ext>
              </a:extLst>
            </p:cNvPr>
            <p:cNvSpPr txBox="1"/>
            <p:nvPr/>
          </p:nvSpPr>
          <p:spPr>
            <a:xfrm>
              <a:off x="416944" y="1358661"/>
              <a:ext cx="5319624" cy="298543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200" b="1">
                  <a:solidFill>
                    <a:srgbClr val="002060"/>
                  </a:solidFill>
                  <a:latin typeface="Batang"/>
                  <a:ea typeface="Batang"/>
                </a:rPr>
                <a:t>Deliveries.csv </a:t>
              </a:r>
              <a:endParaRPr lang="en-US" sz="2200" b="1">
                <a:solidFill>
                  <a:srgbClr val="002060"/>
                </a:solidFill>
                <a:latin typeface="Batang"/>
                <a:ea typeface="Batang"/>
                <a:cs typeface="Calibri"/>
              </a:endParaRPr>
            </a:p>
            <a:p>
              <a:endParaRPr lang="en-US" b="1">
                <a:solidFill>
                  <a:srgbClr val="002060"/>
                </a:solidFill>
                <a:latin typeface="Batang"/>
                <a:ea typeface="Batang"/>
              </a:endParaRPr>
            </a:p>
            <a:p>
              <a:pPr>
                <a:buFont typeface=""/>
                <a:buChar char="•"/>
              </a:pPr>
              <a:r>
                <a:rPr lang="en-US" dirty="0">
                  <a:solidFill>
                    <a:srgbClr val="002060"/>
                  </a:solidFill>
                  <a:latin typeface="Batang"/>
                  <a:ea typeface="Batang"/>
                </a:rPr>
                <a:t>Join: </a:t>
              </a:r>
              <a:r>
                <a:rPr lang="en-US" dirty="0" err="1">
                  <a:solidFill>
                    <a:srgbClr val="002060"/>
                  </a:solidFill>
                  <a:latin typeface="Batang"/>
                  <a:ea typeface="Batang"/>
                </a:rPr>
                <a:t>project_id</a:t>
              </a:r>
              <a:r>
                <a:rPr lang="en-US" dirty="0">
                  <a:solidFill>
                    <a:srgbClr val="002060"/>
                  </a:solidFill>
                  <a:latin typeface="Batang"/>
                  <a:ea typeface="Batang"/>
                </a:rPr>
                <a:t>, </a:t>
              </a:r>
              <a:r>
                <a:rPr lang="en-US" dirty="0" err="1">
                  <a:solidFill>
                    <a:srgbClr val="002060"/>
                  </a:solidFill>
                  <a:latin typeface="Batang"/>
                  <a:ea typeface="Batang"/>
                </a:rPr>
                <a:t>factory_id</a:t>
              </a:r>
              <a:endParaRPr lang="en-US" dirty="0">
                <a:solidFill>
                  <a:srgbClr val="002060"/>
                </a:solidFill>
                <a:latin typeface="Batang"/>
                <a:ea typeface="Batang"/>
                <a:cs typeface="Calibri"/>
              </a:endParaRPr>
            </a:p>
            <a:p>
              <a:pPr>
                <a:buFont typeface=""/>
                <a:buChar char="•"/>
              </a:pPr>
              <a:r>
                <a:rPr lang="en-US" dirty="0">
                  <a:solidFill>
                    <a:srgbClr val="002060"/>
                  </a:solidFill>
                  <a:latin typeface="Batang"/>
                  <a:ea typeface="Batang"/>
                </a:rPr>
                <a:t>Columns: </a:t>
              </a:r>
              <a:r>
                <a:rPr lang="en-US" dirty="0" err="1">
                  <a:solidFill>
                    <a:srgbClr val="002060"/>
                  </a:solidFill>
                  <a:latin typeface="Batang"/>
                  <a:ea typeface="Batang"/>
                </a:rPr>
                <a:t>delivery_id</a:t>
              </a:r>
              <a:r>
                <a:rPr lang="en-US" dirty="0">
                  <a:solidFill>
                    <a:srgbClr val="002060"/>
                  </a:solidFill>
                  <a:latin typeface="Batang"/>
                  <a:ea typeface="Batang"/>
                </a:rPr>
                <a:t>, actual/expected hours, </a:t>
              </a:r>
              <a:r>
                <a:rPr lang="en-US" dirty="0" err="1">
                  <a:solidFill>
                    <a:srgbClr val="002060"/>
                  </a:solidFill>
                  <a:latin typeface="Batang"/>
                  <a:ea typeface="Batang"/>
                </a:rPr>
                <a:t>delay_flag</a:t>
              </a:r>
              <a:r>
                <a:rPr lang="en-US" dirty="0">
                  <a:solidFill>
                    <a:srgbClr val="002060"/>
                  </a:solidFill>
                  <a:latin typeface="Batang"/>
                  <a:ea typeface="Batang"/>
                </a:rPr>
                <a:t>, </a:t>
              </a:r>
              <a:r>
                <a:rPr lang="en-US" dirty="0" err="1">
                  <a:solidFill>
                    <a:srgbClr val="002060"/>
                  </a:solidFill>
                  <a:latin typeface="Batang"/>
                  <a:ea typeface="Batang"/>
                </a:rPr>
                <a:t>distance_km</a:t>
              </a:r>
              <a:endParaRPr lang="en-US" dirty="0">
                <a:solidFill>
                  <a:srgbClr val="002060"/>
                </a:solidFill>
                <a:latin typeface="Batang"/>
                <a:ea typeface="Batang"/>
                <a:cs typeface="Calibri"/>
              </a:endParaRPr>
            </a:p>
            <a:p>
              <a:endParaRPr lang="en-US">
                <a:solidFill>
                  <a:srgbClr val="002060"/>
                </a:solidFill>
                <a:latin typeface="Batang"/>
                <a:ea typeface="Batang"/>
                <a:cs typeface="Calibri"/>
              </a:endParaRPr>
            </a:p>
            <a:p>
              <a:r>
                <a:rPr lang="en-US" sz="2200" b="1">
                  <a:solidFill>
                    <a:srgbClr val="002060"/>
                  </a:solidFill>
                  <a:latin typeface="Batang"/>
                  <a:ea typeface="Batang"/>
                </a:rPr>
                <a:t>Projects.csv </a:t>
              </a:r>
              <a:endParaRPr lang="en-US" sz="2200" b="1">
                <a:solidFill>
                  <a:srgbClr val="002060"/>
                </a:solidFill>
                <a:latin typeface="Batang"/>
                <a:ea typeface="Batang"/>
                <a:cs typeface="Calibri"/>
              </a:endParaRPr>
            </a:p>
            <a:p>
              <a:endParaRPr lang="en-US" b="1">
                <a:solidFill>
                  <a:srgbClr val="002060"/>
                </a:solidFill>
                <a:latin typeface="Batang"/>
                <a:ea typeface="Batang"/>
              </a:endParaRPr>
            </a:p>
            <a:p>
              <a:pPr>
                <a:buFont typeface=""/>
                <a:buChar char="•"/>
              </a:pPr>
              <a:r>
                <a:rPr lang="en-US" dirty="0">
                  <a:solidFill>
                    <a:srgbClr val="002060"/>
                  </a:solidFill>
                  <a:latin typeface="Batang"/>
                  <a:ea typeface="Batang"/>
                </a:rPr>
                <a:t>Join: </a:t>
              </a:r>
              <a:r>
                <a:rPr lang="en-US" dirty="0" err="1">
                  <a:solidFill>
                    <a:srgbClr val="002060"/>
                  </a:solidFill>
                  <a:latin typeface="Batang"/>
                  <a:ea typeface="Batang"/>
                </a:rPr>
                <a:t>project_</a:t>
              </a:r>
              <a:r>
                <a:rPr lang="en-US" dirty="0" err="1">
                  <a:solidFill>
                    <a:srgbClr val="002060"/>
                  </a:solidFill>
                  <a:latin typeface="Batang"/>
                  <a:ea typeface="Batang"/>
                  <a:cs typeface="+mn-lt"/>
                </a:rPr>
                <a:t>id</a:t>
              </a:r>
              <a:endParaRPr lang="en-US" dirty="0">
                <a:solidFill>
                  <a:srgbClr val="002060"/>
                </a:solidFill>
                <a:latin typeface="Batang"/>
                <a:ea typeface="Batang"/>
                <a:cs typeface="Calibri"/>
              </a:endParaRPr>
            </a:p>
            <a:p>
              <a:pPr>
                <a:buFont typeface=""/>
                <a:buChar char="•"/>
              </a:pPr>
              <a:r>
                <a:rPr lang="en-US" dirty="0">
                  <a:solidFill>
                    <a:srgbClr val="002060"/>
                  </a:solidFill>
                  <a:latin typeface="Batang"/>
                  <a:ea typeface="Batang"/>
                </a:rPr>
                <a:t>Columns: coordinates, demand, </a:t>
              </a:r>
              <a:r>
                <a:rPr lang="en-US" dirty="0" err="1">
                  <a:solidFill>
                    <a:srgbClr val="002060"/>
                  </a:solidFill>
                  <a:latin typeface="Batang"/>
                  <a:ea typeface="Batang"/>
                </a:rPr>
                <a:t>priority_level</a:t>
              </a:r>
              <a:endParaRPr lang="en-US" dirty="0" err="1">
                <a:solidFill>
                  <a:srgbClr val="002060"/>
                </a:solidFill>
                <a:latin typeface="Batang"/>
                <a:ea typeface="Batang"/>
                <a:cs typeface="Calibri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C4AA573-0115-00D2-DFAC-DD910961873F}"/>
                </a:ext>
              </a:extLst>
            </p:cNvPr>
            <p:cNvSpPr txBox="1"/>
            <p:nvPr/>
          </p:nvSpPr>
          <p:spPr>
            <a:xfrm>
              <a:off x="6268528" y="1358659"/>
              <a:ext cx="4744529" cy="32624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 rtl="0"/>
              <a:r>
                <a:rPr lang="en-US" sz="2200" b="0" i="0">
                  <a:solidFill>
                    <a:srgbClr val="002060"/>
                  </a:solidFill>
                  <a:latin typeface="Batang"/>
                  <a:ea typeface="Batang"/>
                  <a:cs typeface="Segoe UI"/>
                </a:rPr>
                <a:t>​</a:t>
              </a:r>
              <a:r>
                <a:rPr lang="en-US" sz="2200" b="1" i="0" u="none" strike="noStrike" baseline="0">
                  <a:solidFill>
                    <a:srgbClr val="002060"/>
                  </a:solidFill>
                  <a:latin typeface="Batang"/>
                  <a:ea typeface="Batang"/>
                  <a:cs typeface="Segoe UI"/>
                </a:rPr>
                <a:t>Factories.csv</a:t>
              </a:r>
              <a:endParaRPr lang="en-US" sz="2200">
                <a:solidFill>
                  <a:srgbClr val="002060"/>
                </a:solidFill>
                <a:latin typeface="Batang"/>
                <a:ea typeface="Batang"/>
                <a:cs typeface="Segoe UI"/>
              </a:endParaRPr>
            </a:p>
            <a:p>
              <a:endParaRPr lang="en-US">
                <a:solidFill>
                  <a:srgbClr val="002060"/>
                </a:solidFill>
                <a:latin typeface="Batang"/>
                <a:ea typeface="Batang"/>
                <a:cs typeface="Segoe UI"/>
              </a:endParaRPr>
            </a:p>
            <a:p>
              <a:pPr marL="228600" lvl="0" indent="-228600" algn="l" rtl="0">
                <a:buFont typeface=""/>
                <a:buChar char="•"/>
              </a:pPr>
              <a:r>
                <a:rPr lang="en-US" sz="1800" b="0" i="0" u="none" strike="noStrike" baseline="0" dirty="0">
                  <a:solidFill>
                    <a:srgbClr val="002060"/>
                  </a:solidFill>
                  <a:latin typeface="Batang"/>
                  <a:ea typeface="Batang"/>
                  <a:cs typeface="Arial"/>
                </a:rPr>
                <a:t>Join: </a:t>
              </a:r>
              <a:r>
                <a:rPr lang="en-US" sz="1800" b="0" i="0" u="none" strike="noStrike" baseline="0" dirty="0" err="1">
                  <a:solidFill>
                    <a:srgbClr val="002060"/>
                  </a:solidFill>
                  <a:latin typeface="Batang"/>
                  <a:ea typeface="Batang"/>
                  <a:cs typeface="Arial"/>
                </a:rPr>
                <a:t>factory_id</a:t>
              </a:r>
              <a:r>
                <a:rPr lang="en-US" sz="1800" b="0" i="0" dirty="0">
                  <a:solidFill>
                    <a:srgbClr val="002060"/>
                  </a:solidFill>
                  <a:latin typeface="Batang"/>
                  <a:ea typeface="Batang"/>
                  <a:cs typeface="Arial"/>
                </a:rPr>
                <a:t>​</a:t>
              </a:r>
            </a:p>
            <a:p>
              <a:pPr marL="228600" indent="-228600">
                <a:buFont typeface=""/>
                <a:buChar char="•"/>
              </a:pPr>
              <a:r>
                <a:rPr lang="en-US" sz="1800" b="0" i="0" u="none" strike="noStrike" baseline="0">
                  <a:solidFill>
                    <a:srgbClr val="002060"/>
                  </a:solidFill>
                  <a:latin typeface="Batang"/>
                  <a:ea typeface="Batang"/>
                  <a:cs typeface="Arial"/>
                </a:rPr>
                <a:t>Columns: coordinates, production/week, variability</a:t>
              </a:r>
              <a:endParaRPr lang="en-US">
                <a:solidFill>
                  <a:srgbClr val="002060"/>
                </a:solidFill>
                <a:latin typeface="Batang"/>
                <a:ea typeface="Batang"/>
                <a:cs typeface="Arial"/>
              </a:endParaRPr>
            </a:p>
            <a:p>
              <a:pPr lvl="0" algn="l"/>
              <a:r>
                <a:rPr lang="en-US" sz="1800" b="0" i="0">
                  <a:solidFill>
                    <a:srgbClr val="002060"/>
                  </a:solidFill>
                  <a:latin typeface="Batang"/>
                  <a:ea typeface="Batang"/>
                  <a:cs typeface="Arial"/>
                </a:rPr>
                <a:t>​</a:t>
              </a:r>
            </a:p>
            <a:p>
              <a:pPr algn="l" rtl="0"/>
              <a:r>
                <a:rPr lang="en-US" sz="2200" b="1" i="0" u="none" strike="noStrike" baseline="0">
                  <a:solidFill>
                    <a:srgbClr val="002060"/>
                  </a:solidFill>
                  <a:latin typeface="Batang"/>
                  <a:ea typeface="Batang"/>
                  <a:cs typeface="Segoe UI"/>
                </a:rPr>
                <a:t>External_Factors.csv </a:t>
              </a:r>
              <a:endParaRPr lang="en-US" sz="2200" b="0" i="0">
                <a:solidFill>
                  <a:srgbClr val="002060"/>
                </a:solidFill>
                <a:latin typeface="Batang"/>
                <a:ea typeface="Batang"/>
                <a:cs typeface="Segoe UI"/>
              </a:endParaRPr>
            </a:p>
            <a:p>
              <a:endParaRPr lang="en-US">
                <a:solidFill>
                  <a:srgbClr val="002060"/>
                </a:solidFill>
                <a:latin typeface="Batang"/>
                <a:ea typeface="Batang"/>
                <a:cs typeface="Segoe UI"/>
              </a:endParaRPr>
            </a:p>
            <a:p>
              <a:pPr marL="228600" lvl="0" indent="-228600" algn="l" rtl="0">
                <a:buFont typeface=""/>
                <a:buChar char="•"/>
              </a:pPr>
              <a:r>
                <a:rPr lang="en-US" sz="1800" b="0" i="0" u="none" strike="noStrike" baseline="0">
                  <a:solidFill>
                    <a:srgbClr val="002060"/>
                  </a:solidFill>
                  <a:latin typeface="Batang"/>
                  <a:ea typeface="Batang"/>
                  <a:cs typeface="Arial"/>
                </a:rPr>
                <a:t>Join: date</a:t>
              </a:r>
              <a:r>
                <a:rPr lang="en-US" sz="1800" b="0" i="0">
                  <a:solidFill>
                    <a:srgbClr val="002060"/>
                  </a:solidFill>
                  <a:latin typeface="Batang"/>
                  <a:ea typeface="Batang"/>
                  <a:cs typeface="Arial"/>
                </a:rPr>
                <a:t>​</a:t>
              </a:r>
            </a:p>
            <a:p>
              <a:pPr marL="228600" lvl="0" indent="-228600" algn="l" rtl="0">
                <a:buFont typeface=""/>
                <a:buChar char="•"/>
              </a:pPr>
              <a:r>
                <a:rPr lang="en-US" sz="1800" b="0" i="0" u="none" strike="noStrike" baseline="0" dirty="0">
                  <a:solidFill>
                    <a:srgbClr val="002060"/>
                  </a:solidFill>
                  <a:latin typeface="Batang"/>
                  <a:ea typeface="Batang"/>
                  <a:cs typeface="Arial"/>
                </a:rPr>
                <a:t>Columns: </a:t>
              </a:r>
              <a:r>
                <a:rPr lang="en-US" sz="1800" b="0" i="0" u="none" strike="noStrike" baseline="0" dirty="0" err="1">
                  <a:solidFill>
                    <a:srgbClr val="002060"/>
                  </a:solidFill>
                  <a:latin typeface="Batang"/>
                  <a:ea typeface="Batang"/>
                  <a:cs typeface="Arial"/>
                </a:rPr>
                <a:t>weather_index</a:t>
              </a:r>
              <a:r>
                <a:rPr lang="en-US" sz="1800" b="0" i="0" u="none" strike="noStrike" baseline="0" dirty="0">
                  <a:solidFill>
                    <a:srgbClr val="002060"/>
                  </a:solidFill>
                  <a:latin typeface="Batang"/>
                  <a:ea typeface="Batang"/>
                  <a:cs typeface="Arial"/>
                </a:rPr>
                <a:t>, </a:t>
              </a:r>
              <a:r>
                <a:rPr lang="en-US" sz="1800" b="0" i="0" u="none" strike="noStrike" baseline="0" dirty="0" err="1">
                  <a:solidFill>
                    <a:srgbClr val="002060"/>
                  </a:solidFill>
                  <a:latin typeface="Batang"/>
                  <a:ea typeface="Batang"/>
                  <a:cs typeface="Arial"/>
                </a:rPr>
                <a:t>traffic_index</a:t>
              </a:r>
              <a:r>
                <a:rPr lang="en-US" sz="1800" b="0" i="0" u="none" strike="noStrike" baseline="0" dirty="0">
                  <a:solidFill>
                    <a:srgbClr val="002060"/>
                  </a:solidFill>
                  <a:latin typeface="Batang"/>
                  <a:ea typeface="Batang"/>
                  <a:cs typeface="Arial"/>
                </a:rPr>
                <a:t> (daily)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0AD2F8F2-E1C8-E1E6-AFD9-25084B536C80}"/>
              </a:ext>
            </a:extLst>
          </p:cNvPr>
          <p:cNvGrpSpPr/>
          <p:nvPr/>
        </p:nvGrpSpPr>
        <p:grpSpPr>
          <a:xfrm>
            <a:off x="4251960" y="1745411"/>
            <a:ext cx="7589520" cy="4480560"/>
            <a:chOff x="4251960" y="1371600"/>
            <a:chExt cx="7589520" cy="4480560"/>
          </a:xfrm>
        </p:grpSpPr>
        <p:sp>
          <p:nvSpPr>
            <p:cNvPr id="18" name="Shape 16"/>
            <p:cNvSpPr/>
            <p:nvPr/>
          </p:nvSpPr>
          <p:spPr>
            <a:xfrm>
              <a:off x="4251960" y="3749040"/>
              <a:ext cx="3657600" cy="2103120"/>
            </a:xfrm>
            <a:prstGeom prst="rect">
              <a:avLst/>
            </a:prstGeom>
            <a:solidFill>
              <a:srgbClr val="F4F0E8"/>
            </a:solidFill>
            <a:ln w="6350">
              <a:solidFill>
                <a:srgbClr val="E8E4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14" name="Shape 12"/>
            <p:cNvSpPr/>
            <p:nvPr/>
          </p:nvSpPr>
          <p:spPr>
            <a:xfrm>
              <a:off x="8183880" y="1371600"/>
              <a:ext cx="3657600" cy="2103120"/>
            </a:xfrm>
            <a:prstGeom prst="rect">
              <a:avLst/>
            </a:prstGeom>
            <a:solidFill>
              <a:srgbClr val="F4F0E8"/>
            </a:solidFill>
            <a:ln w="6350">
              <a:solidFill>
                <a:srgbClr val="E8E4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10" name="Shape 8"/>
            <p:cNvSpPr/>
            <p:nvPr/>
          </p:nvSpPr>
          <p:spPr>
            <a:xfrm>
              <a:off x="4251960" y="1371600"/>
              <a:ext cx="3657600" cy="2103120"/>
            </a:xfrm>
            <a:prstGeom prst="rect">
              <a:avLst/>
            </a:prstGeom>
            <a:solidFill>
              <a:srgbClr val="F4F0E8"/>
            </a:solidFill>
            <a:ln w="6350">
              <a:solidFill>
                <a:srgbClr val="E8E4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13" name="Text 11"/>
            <p:cNvSpPr/>
            <p:nvPr/>
          </p:nvSpPr>
          <p:spPr>
            <a:xfrm>
              <a:off x="4453128" y="2011680"/>
              <a:ext cx="3337560" cy="1280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40000"/>
                </a:lnSpc>
                <a:buNone/>
              </a:pPr>
              <a:r>
                <a:rPr lang="en-US" sz="1500">
                  <a:solidFill>
                    <a:srgbClr val="3D3B58"/>
                  </a:solidFill>
                  <a:latin typeface="Batang"/>
                  <a:ea typeface="Batang"/>
                  <a:cs typeface="Trebuchet MS" pitchFamily="34" charset="-120"/>
                </a:rPr>
                <a:t>Delay scales with distance. Very Long routes show dramatically wider delay distributions vs. Short routes.</a:t>
              </a:r>
              <a:endParaRPr lang="en-US" sz="1500">
                <a:latin typeface="Batang"/>
                <a:ea typeface="Batang"/>
                <a:cs typeface="Calibri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8183880" y="1371600"/>
              <a:ext cx="64008" cy="2103120"/>
            </a:xfrm>
            <a:prstGeom prst="rect">
              <a:avLst/>
            </a:prstGeom>
            <a:solidFill>
              <a:srgbClr val="F5A623"/>
            </a:solidFill>
            <a:ln w="12700">
              <a:solidFill>
                <a:srgbClr val="F5A623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8385048" y="2011680"/>
              <a:ext cx="3337560" cy="1280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40000"/>
                </a:lnSpc>
                <a:buNone/>
              </a:pPr>
              <a:r>
                <a:rPr lang="en-US" sz="1500">
                  <a:solidFill>
                    <a:srgbClr val="3D3B58"/>
                  </a:solidFill>
                  <a:latin typeface="Batang"/>
                  <a:ea typeface="Batang"/>
                  <a:cs typeface="Trebuchet MS" pitchFamily="34" charset="-120"/>
                </a:rPr>
                <a:t>Weather and traffic only bite on long routes. The same index on a 10km route barely matters — on 400km, it compounds.</a:t>
              </a:r>
              <a:endParaRPr lang="en-US" sz="1500">
                <a:latin typeface="Batang"/>
                <a:ea typeface="Batang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4453128" y="3931920"/>
              <a:ext cx="3337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>
                  <a:solidFill>
                    <a:srgbClr val="1C1C2E"/>
                  </a:solidFill>
                  <a:latin typeface="Batang"/>
                  <a:ea typeface="Batang"/>
                  <a:cs typeface="Trebuchet MS" pitchFamily="34" charset="-120"/>
                </a:rPr>
                <a:t>Priority Doesn't Protect</a:t>
              </a:r>
              <a:endParaRPr lang="en-US">
                <a:latin typeface="Batang"/>
                <a:ea typeface="Batang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4453128" y="4389120"/>
              <a:ext cx="3337560" cy="1280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40000"/>
                </a:lnSpc>
                <a:buNone/>
              </a:pPr>
              <a:r>
                <a:rPr lang="en-US" sz="1500">
                  <a:solidFill>
                    <a:srgbClr val="3D3B58"/>
                  </a:solidFill>
                  <a:latin typeface="Batang"/>
                  <a:ea typeface="Batang"/>
                  <a:cs typeface="Trebuchet MS" pitchFamily="34" charset="-120"/>
                </a:rPr>
                <a:t>High-priority deliveries overlap with Low and Medium in delay. Priority flags are insufficient alone.</a:t>
              </a:r>
              <a:endParaRPr lang="en-US" sz="1500">
                <a:latin typeface="Batang"/>
                <a:ea typeface="Batang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8183880" y="3749040"/>
              <a:ext cx="3657600" cy="2103120"/>
            </a:xfrm>
            <a:prstGeom prst="rect">
              <a:avLst/>
            </a:prstGeom>
            <a:solidFill>
              <a:srgbClr val="F4F0E8"/>
            </a:solidFill>
            <a:ln w="6350">
              <a:solidFill>
                <a:srgbClr val="F7EDD4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23" name="Shape 21"/>
            <p:cNvSpPr/>
            <p:nvPr/>
          </p:nvSpPr>
          <p:spPr>
            <a:xfrm>
              <a:off x="8183880" y="3749040"/>
              <a:ext cx="64008" cy="2103120"/>
            </a:xfrm>
            <a:prstGeom prst="rect">
              <a:avLst/>
            </a:prstGeom>
            <a:solidFill>
              <a:srgbClr val="F5A623"/>
            </a:solidFill>
            <a:ln w="12700">
              <a:solidFill>
                <a:srgbClr val="F5A623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8385048" y="3931920"/>
              <a:ext cx="3337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>
                  <a:solidFill>
                    <a:srgbClr val="1C1C2E"/>
                  </a:solidFill>
                  <a:latin typeface="Batang"/>
                  <a:ea typeface="Batang"/>
                  <a:cs typeface="Trebuchet MS" pitchFamily="34" charset="-120"/>
                </a:rPr>
                <a:t>Factory Variance</a:t>
              </a:r>
              <a:endParaRPr lang="en-US">
                <a:latin typeface="Batang"/>
                <a:ea typeface="Batang"/>
                <a:cs typeface="Calibri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8385048" y="4389120"/>
              <a:ext cx="3337560" cy="1280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500" dirty="0">
                  <a:solidFill>
                    <a:srgbClr val="3D3B58"/>
                  </a:solidFill>
                  <a:latin typeface="Batang"/>
                  <a:ea typeface="Batang"/>
                  <a:cs typeface="Trebuchet MS" pitchFamily="34" charset="-120"/>
                </a:rPr>
                <a:t>Some factories show systematically </a:t>
              </a:r>
              <a:r>
                <a:rPr lang="en-US" sz="1500">
                  <a:solidFill>
                    <a:srgbClr val="3D3B58"/>
                  </a:solidFill>
                  <a:latin typeface="Batang"/>
                  <a:ea typeface="Batang"/>
                  <a:cs typeface="Trebuchet MS" pitchFamily="34" charset="-120"/>
                </a:rPr>
                <a:t>higher average delays, a supply-side </a:t>
              </a:r>
              <a:r>
                <a:rPr lang="en-US" sz="1500" dirty="0">
                  <a:solidFill>
                    <a:srgbClr val="3D3B58"/>
                  </a:solidFill>
                  <a:latin typeface="Batang"/>
                  <a:ea typeface="Batang"/>
                  <a:cs typeface="Trebuchet MS" pitchFamily="34" charset="-120"/>
                </a:rPr>
                <a:t>signal independent of route conditions.</a:t>
              </a:r>
              <a:endParaRPr lang="en-US" sz="1500" dirty="0">
                <a:latin typeface="Batang"/>
                <a:ea typeface="Batang"/>
              </a:endParaRPr>
            </a:p>
          </p:txBody>
        </p:sp>
      </p:grpSp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C47F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· EXPLORATORY ANALYSIS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C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Data Revealed</a:t>
            </a:r>
            <a:endParaRPr lang="en-US" sz="340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3474720" cy="5029200"/>
          </a:xfrm>
          <a:prstGeom prst="rect">
            <a:avLst/>
          </a:prstGeom>
          <a:solidFill>
            <a:srgbClr val="F7EDD4"/>
          </a:solidFill>
          <a:ln w="12700">
            <a:solidFill>
              <a:srgbClr val="F7E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71600"/>
            <a:ext cx="34747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82880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>
                <a:solidFill>
                  <a:srgbClr val="5C4E3D"/>
                </a:solidFill>
                <a:latin typeface="Batang"/>
                <a:ea typeface="Batang"/>
                <a:cs typeface="Trebuchet MS" pitchFamily="34" charset="-120"/>
              </a:rPr>
              <a:t>99%</a:t>
            </a:r>
            <a:endParaRPr lang="en-US" sz="8800">
              <a:solidFill>
                <a:srgbClr val="5C4E3D"/>
              </a:solidFill>
              <a:latin typeface="Batang"/>
              <a:ea typeface="Batang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3337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000" b="1">
                <a:solidFill>
                  <a:srgbClr val="5C4E3D"/>
                </a:solidFill>
                <a:latin typeface="Batang"/>
                <a:ea typeface="Batang"/>
                <a:cs typeface="Trebuchet MS" pitchFamily="34" charset="-120"/>
              </a:rPr>
              <a:t>of deliveries</a:t>
            </a:r>
            <a:endParaRPr lang="en-US" sz="2000" b="1">
              <a:solidFill>
                <a:srgbClr val="5C4E3D"/>
              </a:solidFill>
              <a:latin typeface="Batang"/>
              <a:ea typeface="Batang"/>
              <a:cs typeface="Calibri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000" b="1">
                <a:solidFill>
                  <a:srgbClr val="5C4E3D"/>
                </a:solidFill>
                <a:latin typeface="Batang"/>
                <a:ea typeface="Batang"/>
                <a:cs typeface="Trebuchet MS" pitchFamily="34" charset="-120"/>
              </a:rPr>
              <a:t>were delayed</a:t>
            </a:r>
            <a:endParaRPr lang="en-US" sz="2000" b="1">
              <a:solidFill>
                <a:srgbClr val="5C4E3D"/>
              </a:solidFill>
              <a:latin typeface="Batang"/>
              <a:ea typeface="Batang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2651760" cy="36576"/>
          </a:xfrm>
          <a:prstGeom prst="rect">
            <a:avLst/>
          </a:prstGeom>
          <a:solidFill>
            <a:srgbClr val="C47F0F"/>
          </a:solidFill>
          <a:ln w="12700">
            <a:solidFill>
              <a:srgbClr val="C47F0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1" y="4477737"/>
            <a:ext cx="3348284" cy="1357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i="1">
                <a:solidFill>
                  <a:srgbClr val="9A97AD"/>
                </a:solidFill>
                <a:latin typeface="Batang"/>
                <a:ea typeface="Batang"/>
                <a:cs typeface="Trebuchet MS" pitchFamily="34" charset="-120"/>
              </a:rPr>
              <a:t>Binary classification is useless.</a:t>
            </a:r>
            <a:endParaRPr lang="en-US" sz="1600" b="1">
              <a:latin typeface="Batang"/>
              <a:ea typeface="Batang"/>
              <a:cs typeface="Calibri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600" b="1" i="1">
                <a:solidFill>
                  <a:srgbClr val="9A97AD"/>
                </a:solidFill>
                <a:latin typeface="Batang"/>
                <a:ea typeface="Batang"/>
                <a:cs typeface="Trebuchet MS" pitchFamily="34" charset="-120"/>
              </a:rPr>
              <a:t>This project is about predicting</a:t>
            </a:r>
            <a:endParaRPr lang="en-US" sz="1600" b="1">
              <a:latin typeface="Batang"/>
              <a:ea typeface="Batang"/>
              <a:cs typeface="Calibri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600" b="1" i="1">
                <a:solidFill>
                  <a:srgbClr val="9A97AD"/>
                </a:solidFill>
                <a:latin typeface="Batang"/>
                <a:ea typeface="Batang"/>
                <a:cs typeface="Trebuchet MS" pitchFamily="34" charset="-120"/>
              </a:rPr>
              <a:t>how much delay — not whether</a:t>
            </a:r>
            <a:r>
              <a:rPr lang="en-US" i="1">
                <a:solidFill>
                  <a:srgbClr val="9A97AD"/>
                </a:solidFill>
                <a:latin typeface="Batang"/>
                <a:ea typeface="Batang"/>
                <a:cs typeface="Trebuchet MS" pitchFamily="34" charset="-120"/>
              </a:rPr>
              <a:t>.</a:t>
            </a:r>
            <a:endParaRPr lang="en-US">
              <a:latin typeface="Batang"/>
              <a:ea typeface="Batang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251960" y="1745411"/>
            <a:ext cx="64008" cy="2103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24373" y="194266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1C1C2E"/>
                </a:solidFill>
                <a:latin typeface="Batang"/>
                <a:ea typeface="Batang"/>
                <a:cs typeface="Trebuchet MS" pitchFamily="34" charset="-120"/>
              </a:rPr>
              <a:t>Distance Effect</a:t>
            </a:r>
            <a:endParaRPr lang="en-US">
              <a:latin typeface="Batang"/>
              <a:ea typeface="Batang"/>
              <a:cs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514444" y="1942669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1C1C2E"/>
                </a:solidFill>
                <a:latin typeface="Batang"/>
                <a:ea typeface="Batang"/>
              </a:rPr>
              <a:t>Exposure Matters</a:t>
            </a:r>
            <a:endParaRPr lang="en-US">
              <a:latin typeface="Batang"/>
              <a:ea typeface="Batang"/>
              <a:cs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251960" y="4151606"/>
            <a:ext cx="64008" cy="2103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· FEATURE ENGINEERING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chemeClr val="bg2">
                    <a:lumMod val="76000"/>
                  </a:schemeClr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The Exposure Hypothesis</a:t>
            </a:r>
            <a:endParaRPr lang="en-US" sz="3400">
              <a:solidFill>
                <a:schemeClr val="bg2">
                  <a:lumMod val="76000"/>
                </a:schemeClr>
              </a:solidFill>
              <a:latin typeface="Trebuchet MS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111556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solidFill>
                  <a:srgbClr val="9A97AD"/>
                </a:solidFill>
                <a:ea typeface="+mn-lt"/>
                <a:cs typeface="+mn-lt"/>
              </a:rPr>
              <a:t>Primary risk drivers identified through feature importance analysis</a:t>
            </a:r>
            <a:endParaRPr lang="en-US" sz="2000" dirty="0"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1706017"/>
            <a:ext cx="5486400" cy="288409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rgbClr val="2A2A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691640"/>
            <a:ext cx="5486400" cy="73152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solidFill>
              <a:srgbClr val="E8A0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20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err="1">
                <a:solidFill>
                  <a:schemeClr val="bg2">
                    <a:lumMod val="76000"/>
                  </a:schemeClr>
                </a:solidFill>
                <a:latin typeface="Batang"/>
                <a:ea typeface="Batang"/>
                <a:cs typeface="Trebuchet MS" pitchFamily="34" charset="-120"/>
              </a:rPr>
              <a:t>weather_distance</a:t>
            </a:r>
            <a:endParaRPr lang="en-US" sz="2000" b="1">
              <a:solidFill>
                <a:schemeClr val="bg2">
                  <a:lumMod val="76000"/>
                </a:schemeClr>
              </a:solidFill>
              <a:latin typeface="Batang"/>
              <a:ea typeface="Batang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245059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chemeClr val="bg2">
                    <a:lumMod val="76000"/>
                  </a:schemeClr>
                </a:solidFill>
                <a:latin typeface="Batang"/>
                <a:ea typeface="Batang"/>
                <a:cs typeface="Trebuchet MS" pitchFamily="34" charset="-120"/>
              </a:rPr>
              <a:t>= </a:t>
            </a:r>
            <a:r>
              <a:rPr lang="en-US" sz="1500" b="1" err="1">
                <a:solidFill>
                  <a:schemeClr val="bg2">
                    <a:lumMod val="76000"/>
                  </a:schemeClr>
                </a:solidFill>
                <a:latin typeface="Batang"/>
                <a:ea typeface="Batang"/>
                <a:cs typeface="Trebuchet MS" pitchFamily="34" charset="-120"/>
              </a:rPr>
              <a:t>weather_index</a:t>
            </a:r>
            <a:r>
              <a:rPr lang="en-US" sz="1500" b="1">
                <a:solidFill>
                  <a:schemeClr val="bg2">
                    <a:lumMod val="76000"/>
                  </a:schemeClr>
                </a:solidFill>
                <a:latin typeface="Batang"/>
                <a:ea typeface="Batang"/>
                <a:cs typeface="Trebuchet MS" pitchFamily="34" charset="-120"/>
              </a:rPr>
              <a:t>  ×  </a:t>
            </a:r>
            <a:r>
              <a:rPr lang="en-US" sz="1500" b="1" err="1">
                <a:solidFill>
                  <a:schemeClr val="bg2">
                    <a:lumMod val="76000"/>
                  </a:schemeClr>
                </a:solidFill>
                <a:latin typeface="Batang"/>
                <a:ea typeface="Batang"/>
                <a:cs typeface="Trebuchet MS" pitchFamily="34" charset="-120"/>
              </a:rPr>
              <a:t>distance_km</a:t>
            </a:r>
            <a:endParaRPr lang="en-US" sz="1500" b="1" err="1">
              <a:solidFill>
                <a:schemeClr val="bg2">
                  <a:lumMod val="76000"/>
                </a:schemeClr>
              </a:solidFill>
              <a:latin typeface="Batang"/>
              <a:ea typeface="Batang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85800" y="2944368"/>
            <a:ext cx="4754880" cy="27432"/>
          </a:xfrm>
          <a:prstGeom prst="rect">
            <a:avLst/>
          </a:prstGeom>
          <a:solidFill>
            <a:srgbClr val="2A2A40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149504"/>
            <a:ext cx="4218893" cy="1140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500" b="1" dirty="0">
                <a:solidFill>
                  <a:schemeClr val="bg2">
                    <a:lumMod val="76000"/>
                  </a:schemeClr>
                </a:solidFill>
                <a:latin typeface="Batang"/>
                <a:ea typeface="Batang"/>
                <a:cs typeface="Trebuchet MS" pitchFamily="34" charset="-120"/>
              </a:rPr>
              <a:t>Captures how much adverse weather a delivery is exposed to across its full route length. Short routes are nearly immune; long routes compound severity</a:t>
            </a:r>
            <a:r>
              <a:rPr lang="en-US" sz="1200" b="1" dirty="0">
                <a:solidFill>
                  <a:srgbClr val="9A97AD"/>
                </a:solidFill>
                <a:latin typeface="Batang"/>
                <a:ea typeface="Batang"/>
                <a:cs typeface="Trebuchet MS" pitchFamily="34" charset="-120"/>
              </a:rPr>
              <a:t>.</a:t>
            </a:r>
            <a:endParaRPr lang="en-US" sz="1200" b="1" dirty="0">
              <a:latin typeface="Batang"/>
              <a:ea typeface="Batang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306772" y="1706017"/>
            <a:ext cx="5443268" cy="288409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rgbClr val="2A2A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691640"/>
            <a:ext cx="5486400" cy="73152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solidFill>
              <a:srgbClr val="7EB8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920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err="1">
                <a:solidFill>
                  <a:schemeClr val="bg2">
                    <a:lumMod val="76000"/>
                  </a:schemeClr>
                </a:solidFill>
                <a:latin typeface="Batang"/>
                <a:ea typeface="Batang"/>
                <a:cs typeface="Trebuchet MS" pitchFamily="34" charset="-120"/>
              </a:rPr>
              <a:t>traffic_distance</a:t>
            </a:r>
            <a:endParaRPr lang="en-US" sz="2000" b="1" err="1">
              <a:solidFill>
                <a:schemeClr val="bg2">
                  <a:lumMod val="76000"/>
                </a:schemeClr>
              </a:solidFill>
              <a:latin typeface="Batang"/>
              <a:ea typeface="Batang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37960" y="245059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chemeClr val="bg2">
                    <a:lumMod val="76000"/>
                  </a:schemeClr>
                </a:solidFill>
                <a:latin typeface="Batang"/>
                <a:ea typeface="Batang"/>
                <a:cs typeface="Trebuchet MS" pitchFamily="34" charset="-120"/>
              </a:rPr>
              <a:t>= </a:t>
            </a:r>
            <a:r>
              <a:rPr lang="en-US" sz="1500" b="1" err="1">
                <a:solidFill>
                  <a:schemeClr val="bg2">
                    <a:lumMod val="76000"/>
                  </a:schemeClr>
                </a:solidFill>
                <a:latin typeface="Batang"/>
                <a:ea typeface="Batang"/>
                <a:cs typeface="Trebuchet MS" pitchFamily="34" charset="-120"/>
              </a:rPr>
              <a:t>traffic_index</a:t>
            </a:r>
            <a:r>
              <a:rPr lang="en-US" sz="1500" b="1">
                <a:solidFill>
                  <a:schemeClr val="bg2">
                    <a:lumMod val="76000"/>
                  </a:schemeClr>
                </a:solidFill>
                <a:latin typeface="Batang"/>
                <a:ea typeface="Batang"/>
                <a:cs typeface="Trebuchet MS" pitchFamily="34" charset="-120"/>
              </a:rPr>
              <a:t>  ×  </a:t>
            </a:r>
            <a:r>
              <a:rPr lang="en-US" sz="1500" b="1" err="1">
                <a:solidFill>
                  <a:schemeClr val="bg2">
                    <a:lumMod val="76000"/>
                  </a:schemeClr>
                </a:solidFill>
                <a:latin typeface="Batang"/>
                <a:ea typeface="Batang"/>
                <a:cs typeface="Trebuchet MS" pitchFamily="34" charset="-120"/>
              </a:rPr>
              <a:t>distance_km</a:t>
            </a:r>
            <a:endParaRPr lang="en-US" sz="1500" b="1" err="1">
              <a:solidFill>
                <a:schemeClr val="bg2">
                  <a:lumMod val="76000"/>
                </a:schemeClr>
              </a:solidFill>
              <a:latin typeface="Batang"/>
              <a:ea typeface="Batang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537960" y="2944368"/>
            <a:ext cx="4754880" cy="27432"/>
          </a:xfrm>
          <a:prstGeom prst="rect">
            <a:avLst/>
          </a:prstGeom>
          <a:solidFill>
            <a:srgbClr val="2A2A40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6713" y="3149504"/>
            <a:ext cx="4405800" cy="1140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500" b="1">
                <a:solidFill>
                  <a:schemeClr val="bg2">
                    <a:lumMod val="76000"/>
                  </a:schemeClr>
                </a:solidFill>
                <a:latin typeface="Batang"/>
                <a:ea typeface="Batang"/>
                <a:cs typeface="Trebuchet MS" pitchFamily="34" charset="-120"/>
              </a:rPr>
              <a:t>Captures sustained traffic congestion exposure. A heavy traffic index on a 400km route creates compounding delay far beyond what the raw index suggests.</a:t>
            </a:r>
            <a:endParaRPr lang="en-US" sz="1200" b="1">
              <a:solidFill>
                <a:schemeClr val="bg2">
                  <a:lumMod val="76000"/>
                </a:schemeClr>
              </a:solidFill>
              <a:latin typeface="Batang"/>
              <a:ea typeface="Batang"/>
              <a:cs typeface="Calibri" panose="020F0502020204030204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1AB2FB5-D0D6-E9AE-CCAD-1E4570ABF53A}"/>
              </a:ext>
            </a:extLst>
          </p:cNvPr>
          <p:cNvSpPr txBox="1"/>
          <p:nvPr/>
        </p:nvSpPr>
        <p:spPr>
          <a:xfrm>
            <a:off x="416944" y="4794849"/>
            <a:ext cx="3910643" cy="30162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2">
                    <a:lumMod val="76000"/>
                  </a:schemeClr>
                </a:solidFill>
                <a:latin typeface="Batang"/>
                <a:ea typeface="Batang"/>
              </a:rPr>
              <a:t>SUPPORTING FEATURES:</a:t>
            </a:r>
            <a:endParaRPr lang="en-US" b="1">
              <a:solidFill>
                <a:schemeClr val="bg2">
                  <a:lumMod val="76000"/>
                </a:schemeClr>
              </a:solidFill>
              <a:latin typeface="Batang"/>
              <a:ea typeface="Batang"/>
              <a:cs typeface="Calibri"/>
            </a:endParaRPr>
          </a:p>
          <a:p>
            <a:pPr>
              <a:buFont typeface=""/>
              <a:buChar char="•"/>
            </a:pPr>
            <a:r>
              <a:rPr lang="en-US" sz="2000" b="1" dirty="0" err="1">
                <a:solidFill>
                  <a:schemeClr val="bg2">
                    <a:lumMod val="76000"/>
                  </a:schemeClr>
                </a:solidFill>
                <a:latin typeface="Batang"/>
                <a:ea typeface="Batang"/>
              </a:rPr>
              <a:t>distance_km</a:t>
            </a:r>
            <a:endParaRPr lang="en-US" sz="2000" b="1">
              <a:solidFill>
                <a:schemeClr val="bg2">
                  <a:lumMod val="76000"/>
                </a:schemeClr>
              </a:solidFill>
              <a:latin typeface="Batang"/>
              <a:ea typeface="Batang"/>
              <a:cs typeface="Calibri"/>
            </a:endParaRPr>
          </a:p>
          <a:p>
            <a:pPr>
              <a:buFont typeface=""/>
              <a:buChar char="•"/>
            </a:pPr>
            <a:r>
              <a:rPr lang="en-US" sz="2000" b="1" dirty="0" err="1">
                <a:solidFill>
                  <a:schemeClr val="bg2">
                    <a:lumMod val="76000"/>
                  </a:schemeClr>
                </a:solidFill>
                <a:latin typeface="Batang"/>
                <a:ea typeface="Batang"/>
              </a:rPr>
              <a:t>weather_index</a:t>
            </a:r>
            <a:endParaRPr lang="en-US" sz="2000" b="1">
              <a:solidFill>
                <a:schemeClr val="bg2">
                  <a:lumMod val="76000"/>
                </a:schemeClr>
              </a:solidFill>
              <a:latin typeface="Batang"/>
              <a:ea typeface="Batang"/>
              <a:cs typeface="Calibri"/>
            </a:endParaRPr>
          </a:p>
          <a:p>
            <a:pPr>
              <a:buFont typeface=""/>
              <a:buChar char="•"/>
            </a:pPr>
            <a:r>
              <a:rPr lang="en-US" sz="2000" b="1" dirty="0" err="1">
                <a:solidFill>
                  <a:schemeClr val="bg2">
                    <a:lumMod val="76000"/>
                  </a:schemeClr>
                </a:solidFill>
                <a:latin typeface="Batang"/>
                <a:ea typeface="Batang"/>
              </a:rPr>
              <a:t>traffic_index</a:t>
            </a:r>
            <a:endParaRPr lang="en-US" sz="2000" b="1">
              <a:solidFill>
                <a:schemeClr val="bg2">
                  <a:lumMod val="76000"/>
                </a:schemeClr>
              </a:solidFill>
              <a:latin typeface="Batang"/>
              <a:ea typeface="Batang"/>
              <a:cs typeface="Calibri"/>
            </a:endParaRPr>
          </a:p>
          <a:p>
            <a:pPr>
              <a:buFont typeface=""/>
              <a:buChar char="•"/>
            </a:pPr>
            <a:r>
              <a:rPr lang="en-US" sz="2000" b="1" dirty="0" err="1">
                <a:solidFill>
                  <a:schemeClr val="bg2">
                    <a:lumMod val="76000"/>
                  </a:schemeClr>
                </a:solidFill>
                <a:latin typeface="Batang"/>
                <a:ea typeface="Batang"/>
              </a:rPr>
              <a:t>expected_time_hours</a:t>
            </a:r>
            <a:endParaRPr lang="en-US" sz="2000" b="1">
              <a:solidFill>
                <a:schemeClr val="bg2">
                  <a:lumMod val="76000"/>
                </a:schemeClr>
              </a:solidFill>
              <a:latin typeface="Batang"/>
              <a:ea typeface="Batang"/>
              <a:cs typeface="Calibri"/>
            </a:endParaRPr>
          </a:p>
          <a:p>
            <a:pPr>
              <a:buFont typeface=""/>
              <a:buChar char="•"/>
            </a:pPr>
            <a:r>
              <a:rPr lang="en-US" sz="2000" b="1">
                <a:solidFill>
                  <a:schemeClr val="bg2">
                    <a:lumMod val="76000"/>
                  </a:schemeClr>
                </a:solidFill>
                <a:latin typeface="Batang"/>
                <a:ea typeface="Batang"/>
                <a:cs typeface="Calibri"/>
              </a:rPr>
              <a:t>demand</a:t>
            </a:r>
            <a:endParaRPr lang="en-US" sz="2000" b="1" dirty="0">
              <a:solidFill>
                <a:schemeClr val="bg2">
                  <a:lumMod val="76000"/>
                </a:schemeClr>
              </a:solidFill>
              <a:latin typeface="Batang"/>
              <a:ea typeface="Batang"/>
              <a:cs typeface="Calibri"/>
            </a:endParaRPr>
          </a:p>
          <a:p>
            <a:endParaRPr lang="en-US" b="1" dirty="0">
              <a:solidFill>
                <a:schemeClr val="bg2">
                  <a:lumMod val="76000"/>
                </a:schemeClr>
              </a:solidFill>
              <a:latin typeface="Batang"/>
              <a:ea typeface="Batang"/>
              <a:cs typeface="Calibri"/>
            </a:endParaRPr>
          </a:p>
          <a:p>
            <a:endParaRPr lang="en-US" b="1" dirty="0">
              <a:solidFill>
                <a:schemeClr val="bg2">
                  <a:lumMod val="76000"/>
                </a:schemeClr>
              </a:solidFill>
              <a:latin typeface="Batang"/>
              <a:ea typeface="Batang"/>
              <a:cs typeface="Calibri"/>
            </a:endParaRPr>
          </a:p>
          <a:p>
            <a:endParaRPr lang="en-US" b="1" dirty="0">
              <a:solidFill>
                <a:schemeClr val="bg2">
                  <a:lumMod val="76000"/>
                </a:schemeClr>
              </a:solidFill>
              <a:latin typeface="Batang"/>
              <a:ea typeface="Batang"/>
              <a:cs typeface="Calibri"/>
            </a:endParaRPr>
          </a:p>
          <a:p>
            <a:pPr algn="ctr"/>
            <a:endParaRPr lang="en-US" b="1" dirty="0">
              <a:solidFill>
                <a:schemeClr val="bg2">
                  <a:lumMod val="76000"/>
                </a:schemeClr>
              </a:solidFill>
              <a:latin typeface="Batang"/>
              <a:ea typeface="Batang"/>
              <a:cs typeface="Calibri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80BEE55-5F07-3DFA-6720-04EDD473EEBB}"/>
              </a:ext>
            </a:extLst>
          </p:cNvPr>
          <p:cNvSpPr txBox="1"/>
          <p:nvPr/>
        </p:nvSpPr>
        <p:spPr>
          <a:xfrm>
            <a:off x="4528868" y="4579189"/>
            <a:ext cx="6096000" cy="21852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800" b="1" i="0">
                <a:solidFill>
                  <a:srgbClr val="FFFFFF"/>
                </a:solidFill>
                <a:latin typeface="Batang"/>
                <a:ea typeface="Batang"/>
                <a:cs typeface="Segoe UI"/>
              </a:rPr>
              <a:t>​</a:t>
            </a:r>
          </a:p>
          <a:p>
            <a:pPr lvl="0" algn="l" rtl="0"/>
            <a:endParaRPr lang="en-US" sz="2000" b="1" i="0" dirty="0">
              <a:solidFill>
                <a:srgbClr val="FFFFFF"/>
              </a:solidFill>
              <a:latin typeface="Batang"/>
              <a:ea typeface="Batang"/>
              <a:cs typeface="Arial"/>
            </a:endParaRPr>
          </a:p>
          <a:p>
            <a:pPr marL="228600" lvl="0" indent="-228600" algn="l" rtl="0">
              <a:buFont typeface=""/>
              <a:buChar char="•"/>
            </a:pPr>
            <a:r>
              <a:rPr lang="en-US" sz="2000" b="1" i="0" u="none" strike="noStrike" baseline="0" dirty="0" err="1">
                <a:solidFill>
                  <a:srgbClr val="344051"/>
                </a:solidFill>
                <a:latin typeface="Batang"/>
                <a:ea typeface="Batang"/>
                <a:cs typeface="Arial"/>
              </a:rPr>
              <a:t>priority_encoded</a:t>
            </a:r>
            <a:r>
              <a:rPr lang="en-US" sz="2000" b="1" i="0" dirty="0">
                <a:solidFill>
                  <a:srgbClr val="FFFFFF"/>
                </a:solidFill>
                <a:latin typeface="Batang"/>
                <a:ea typeface="Batang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000" b="1" i="0" u="none" strike="noStrike" baseline="0" dirty="0" err="1">
                <a:solidFill>
                  <a:srgbClr val="344051"/>
                </a:solidFill>
                <a:latin typeface="Batang"/>
                <a:ea typeface="Batang"/>
                <a:cs typeface="Arial"/>
              </a:rPr>
              <a:t>production_variability</a:t>
            </a:r>
            <a:r>
              <a:rPr lang="en-US" sz="2000" b="1" i="0" dirty="0">
                <a:solidFill>
                  <a:srgbClr val="FFFFFF"/>
                </a:solidFill>
                <a:latin typeface="Batang"/>
                <a:ea typeface="Batang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000" b="1" i="0" u="none" strike="noStrike" baseline="0" dirty="0" err="1">
                <a:solidFill>
                  <a:srgbClr val="344051"/>
                </a:solidFill>
                <a:latin typeface="Batang"/>
                <a:ea typeface="Batang"/>
                <a:cs typeface="Arial"/>
              </a:rPr>
              <a:t>day_of_week</a:t>
            </a:r>
            <a:r>
              <a:rPr lang="en-US" sz="2000" b="1" i="0" dirty="0">
                <a:solidFill>
                  <a:srgbClr val="FFFFFF"/>
                </a:solidFill>
                <a:latin typeface="Batang"/>
                <a:ea typeface="Batang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000" b="1" i="0" u="none" strike="noStrike" baseline="0" dirty="0" err="1">
                <a:solidFill>
                  <a:srgbClr val="344051"/>
                </a:solidFill>
                <a:latin typeface="Batang"/>
                <a:ea typeface="Batang"/>
                <a:cs typeface="Arial"/>
              </a:rPr>
              <a:t>is_weekend</a:t>
            </a:r>
            <a:endParaRPr lang="en-US" sz="2000" b="1" i="0" u="none" strike="noStrike" baseline="0">
              <a:solidFill>
                <a:srgbClr val="344051"/>
              </a:solidFill>
              <a:latin typeface="Batang"/>
              <a:ea typeface="Batang"/>
              <a:cs typeface="Arial"/>
            </a:endParaRPr>
          </a:p>
          <a:p>
            <a:pPr algn="ctr"/>
            <a:endParaRPr lang="en-US" b="1">
              <a:latin typeface="Batang"/>
              <a:ea typeface="Batang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C47F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· RANDOM FOREST REGRESSOR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C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Performance</a:t>
            </a:r>
            <a:endParaRPr lang="en-US" sz="340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3474720" cy="1828800"/>
          </a:xfrm>
          <a:prstGeom prst="rect">
            <a:avLst/>
          </a:prstGeom>
          <a:solidFill>
            <a:srgbClr val="EDEAF5"/>
          </a:solidFill>
          <a:ln w="6350">
            <a:solidFill>
              <a:srgbClr val="ED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25880"/>
            <a:ext cx="34747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52704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>
                <a:solidFill>
                  <a:srgbClr val="1C1C2E"/>
                </a:solidFill>
                <a:latin typeface="Batang"/>
                <a:ea typeface="Batang"/>
              </a:rPr>
              <a:t>0.805</a:t>
            </a:r>
            <a:endParaRPr lang="en-US" sz="3800">
              <a:latin typeface="Batang"/>
              <a:ea typeface="Batang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23396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>
                <a:solidFill>
                  <a:srgbClr val="3D3B58"/>
                </a:solidFill>
                <a:latin typeface="Batang"/>
                <a:ea typeface="Batang"/>
                <a:cs typeface="Trebuchet MS" pitchFamily="34" charset="-120"/>
              </a:rPr>
              <a:t>R² Score — explains 80.5%</a:t>
            </a:r>
            <a:endParaRPr lang="en-US" sz="1500">
              <a:latin typeface="Batang"/>
              <a:ea typeface="Batang"/>
            </a:endParaRPr>
          </a:p>
          <a:p>
            <a:pPr marL="0" indent="0" algn="ctr">
              <a:buNone/>
            </a:pPr>
            <a:r>
              <a:rPr lang="en-US" sz="1500">
                <a:solidFill>
                  <a:srgbClr val="3D3B58"/>
                </a:solidFill>
                <a:latin typeface="Batang"/>
                <a:ea typeface="Batang"/>
                <a:cs typeface="Trebuchet MS" pitchFamily="34" charset="-120"/>
              </a:rPr>
              <a:t>of total delay variance</a:t>
            </a:r>
            <a:endParaRPr lang="en-US" sz="1500">
              <a:latin typeface="Batang"/>
              <a:ea typeface="Batang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51960" y="1325880"/>
            <a:ext cx="3474720" cy="1828800"/>
          </a:xfrm>
          <a:prstGeom prst="rect">
            <a:avLst/>
          </a:prstGeom>
          <a:solidFill>
            <a:srgbClr val="EDEAF5"/>
          </a:solidFill>
          <a:ln w="6350">
            <a:solidFill>
              <a:srgbClr val="ED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51960" y="1325880"/>
            <a:ext cx="34747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152704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800" b="1" dirty="0">
                <a:solidFill>
                  <a:srgbClr val="1C1C2E"/>
                </a:solidFill>
                <a:latin typeface="Batang"/>
                <a:ea typeface="Batang"/>
                <a:cs typeface="Trebuchet MS" pitchFamily="34" charset="-120"/>
              </a:rPr>
              <a:t>≈1.53 </a:t>
            </a:r>
            <a:r>
              <a:rPr lang="en-US" sz="3800" b="1" dirty="0" err="1">
                <a:solidFill>
                  <a:srgbClr val="1C1C2E"/>
                </a:solidFill>
                <a:latin typeface="Batang"/>
                <a:ea typeface="Batang"/>
                <a:cs typeface="Trebuchet MS" pitchFamily="34" charset="-120"/>
              </a:rPr>
              <a:t>hrs</a:t>
            </a:r>
            <a:endParaRPr lang="en-US" sz="3800" dirty="0" err="1">
              <a:latin typeface="Batang"/>
              <a:ea typeface="Batang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251960" y="23396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>
                <a:solidFill>
                  <a:srgbClr val="3D3B58"/>
                </a:solidFill>
                <a:latin typeface="Batang"/>
                <a:ea typeface="Batang"/>
                <a:cs typeface="Trebuchet MS" pitchFamily="34" charset="-120"/>
              </a:rPr>
              <a:t>Mean Absolute Error —</a:t>
            </a:r>
            <a:endParaRPr lang="en-US" sz="1500">
              <a:latin typeface="Batang"/>
              <a:ea typeface="Batang"/>
            </a:endParaRPr>
          </a:p>
          <a:p>
            <a:pPr marL="0" indent="0" algn="ctr">
              <a:buNone/>
            </a:pPr>
            <a:r>
              <a:rPr lang="en-US" sz="1500">
                <a:solidFill>
                  <a:srgbClr val="3D3B58"/>
                </a:solidFill>
                <a:latin typeface="Batang"/>
                <a:ea typeface="Batang"/>
                <a:cs typeface="Trebuchet MS" pitchFamily="34" charset="-120"/>
              </a:rPr>
              <a:t>average prediction accuracy</a:t>
            </a:r>
            <a:endParaRPr lang="en-US" sz="1500">
              <a:latin typeface="Batang"/>
              <a:ea typeface="Batang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092440" y="1325880"/>
            <a:ext cx="3474720" cy="1828800"/>
          </a:xfrm>
          <a:prstGeom prst="rect">
            <a:avLst/>
          </a:prstGeom>
          <a:solidFill>
            <a:srgbClr val="EDEAF5"/>
          </a:solidFill>
          <a:ln w="6350">
            <a:solidFill>
              <a:srgbClr val="ED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92440" y="1325880"/>
            <a:ext cx="34747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152704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800" b="1">
                <a:solidFill>
                  <a:srgbClr val="1C1C2E"/>
                </a:solidFill>
                <a:latin typeface="Batang"/>
                <a:ea typeface="Batang"/>
                <a:cs typeface="Trebuchet MS" pitchFamily="34" charset="-120"/>
              </a:rPr>
              <a:t>≈1.99 </a:t>
            </a:r>
            <a:r>
              <a:rPr lang="en-US" sz="3800" b="1" dirty="0">
                <a:solidFill>
                  <a:srgbClr val="1C1C2E"/>
                </a:solidFill>
                <a:latin typeface="Batang"/>
                <a:ea typeface="Batang"/>
                <a:cs typeface="Trebuchet MS" pitchFamily="34" charset="-120"/>
              </a:rPr>
              <a:t>hrs</a:t>
            </a:r>
            <a:endParaRPr lang="en-US" sz="3800" dirty="0">
              <a:latin typeface="Batang"/>
              <a:ea typeface="Batang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092440" y="23396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>
                <a:solidFill>
                  <a:srgbClr val="3D3B58"/>
                </a:solidFill>
                <a:latin typeface="Batang"/>
                <a:ea typeface="Batang"/>
                <a:cs typeface="Trebuchet MS" pitchFamily="34" charset="-120"/>
              </a:rPr>
              <a:t>RMSE — penalizes</a:t>
            </a:r>
            <a:endParaRPr lang="en-US" sz="1500">
              <a:latin typeface="Batang"/>
              <a:ea typeface="Batang"/>
            </a:endParaRPr>
          </a:p>
          <a:p>
            <a:pPr marL="0" indent="0" algn="ctr">
              <a:buNone/>
            </a:pPr>
            <a:r>
              <a:rPr lang="en-US" sz="1500">
                <a:solidFill>
                  <a:srgbClr val="3D3B58"/>
                </a:solidFill>
                <a:latin typeface="Batang"/>
                <a:ea typeface="Batang"/>
                <a:cs typeface="Trebuchet MS" pitchFamily="34" charset="-120"/>
              </a:rPr>
              <a:t>high-error predictions</a:t>
            </a:r>
            <a:endParaRPr lang="en-US" sz="1500">
              <a:latin typeface="Batang"/>
              <a:ea typeface="Batang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1148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C47F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SHAP Feature Importance Ranking</a:t>
            </a:r>
            <a:endParaRPr lang="en-US" sz="1000"/>
          </a:p>
        </p:txBody>
      </p:sp>
      <p:sp>
        <p:nvSpPr>
          <p:cNvPr id="18" name="Shape 15"/>
          <p:cNvSpPr/>
          <p:nvPr/>
        </p:nvSpPr>
        <p:spPr>
          <a:xfrm>
            <a:off x="8412480" y="3431177"/>
            <a:ext cx="3474720" cy="3070134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03920" y="37568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>
                <a:solidFill>
                  <a:srgbClr val="F5A623"/>
                </a:solidFill>
                <a:latin typeface="Batang"/>
                <a:ea typeface="Batang"/>
                <a:cs typeface="Trebuchet MS" pitchFamily="34" charset="-120"/>
              </a:rPr>
              <a:t>Key Finding</a:t>
            </a:r>
            <a:endParaRPr lang="en-US" sz="2200">
              <a:latin typeface="Batang"/>
              <a:ea typeface="Batang"/>
              <a:cs typeface="Calibri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503920" y="429768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>
                <a:latin typeface="Batang"/>
                <a:ea typeface="Batang"/>
              </a:rPr>
              <a:t>Strong Predictive Consistency Across Range:</a:t>
            </a:r>
            <a:endParaRPr lang="en-US" sz="1500" b="1">
              <a:latin typeface="Batang"/>
              <a:ea typeface="Batang"/>
              <a:cs typeface="Calibri"/>
            </a:endParaRPr>
          </a:p>
          <a:p>
            <a:r>
              <a:rPr lang="en-US" sz="1500" b="1" dirty="0">
                <a:solidFill>
                  <a:srgbClr val="F4F0E8"/>
                </a:solidFill>
                <a:latin typeface="Batang"/>
                <a:ea typeface="Batang"/>
                <a:cs typeface="+mn-lt"/>
              </a:rPr>
              <a:t>The model maintains stable accuracy across low and high delay values, with errors remaining relatively controlled even for long-delay scenarios.</a:t>
            </a:r>
            <a:endParaRPr lang="en-US" sz="1500" b="1" dirty="0">
              <a:latin typeface="Batang"/>
              <a:ea typeface="Batang"/>
              <a:cs typeface="+mn-lt"/>
            </a:endParaRPr>
          </a:p>
          <a:p>
            <a:pPr marL="0" indent="0">
              <a:lnSpc>
                <a:spcPct val="145000"/>
              </a:lnSpc>
              <a:buNone/>
            </a:pPr>
            <a:endParaRPr lang="en-US" sz="1150" dirty="0">
              <a:solidFill>
                <a:srgbClr val="F4F0E8"/>
              </a:solidFill>
              <a:latin typeface="Trebuchet MS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48BB28C-66AD-7859-F747-A77DBF96C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14" y="3425276"/>
            <a:ext cx="7692573" cy="30826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64703" y="362309"/>
            <a:ext cx="5716437" cy="5630174"/>
          </a:xfrm>
          <a:prstGeom prst="ellipse">
            <a:avLst/>
          </a:prstGeom>
          <a:solidFill>
            <a:srgbClr val="2A2A40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· CORE INSIGHT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411480" y="804845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>
                <a:solidFill>
                  <a:schemeClr val="bg2">
                    <a:lumMod val="76000"/>
                  </a:schemeClr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Delay is not caused by</a:t>
            </a:r>
            <a:endParaRPr lang="en-US" sz="4400">
              <a:solidFill>
                <a:schemeClr val="bg2">
                  <a:lumMod val="76000"/>
                </a:schemeClr>
              </a:solidFill>
              <a:latin typeface="Trebuchet MS"/>
              <a:ea typeface="Calibri"/>
              <a:cs typeface="Calibri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4400" b="1">
                <a:solidFill>
                  <a:schemeClr val="bg2">
                    <a:lumMod val="76000"/>
                  </a:schemeClr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weather or traffic.</a:t>
            </a:r>
            <a:endParaRPr lang="en-US" sz="4400">
              <a:solidFill>
                <a:schemeClr val="bg2">
                  <a:lumMod val="76000"/>
                </a:schemeClr>
              </a:solidFill>
              <a:latin typeface="Trebuchet M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23317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00" b="1">
                <a:solidFill>
                  <a:schemeClr val="bg2">
                    <a:lumMod val="76000"/>
                  </a:schemeClr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It is caused by </a:t>
            </a:r>
            <a:r>
              <a:rPr lang="en-US" sz="3700" b="1">
                <a:solidFill>
                  <a:schemeClr val="bg2">
                    <a:lumMod val="76000"/>
                  </a:schemeClr>
                </a:solidFill>
                <a:latin typeface="Batang"/>
                <a:ea typeface="Batang"/>
                <a:cs typeface="Trebuchet MS" pitchFamily="34" charset="-120"/>
              </a:rPr>
              <a:t>EXPOSURE</a:t>
            </a:r>
            <a:r>
              <a:rPr lang="en-US" sz="3700" b="1" dirty="0">
                <a:solidFill>
                  <a:schemeClr val="bg2">
                    <a:lumMod val="76000"/>
                  </a:schemeClr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.</a:t>
            </a:r>
            <a:endParaRPr lang="en-US" sz="3700">
              <a:solidFill>
                <a:schemeClr val="bg2">
                  <a:lumMod val="76000"/>
                </a:schemeClr>
              </a:solidFill>
              <a:latin typeface="Trebuchet MS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3073591"/>
            <a:ext cx="45720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429000"/>
            <a:ext cx="5694583" cy="1027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chemeClr val="bg2">
                    <a:lumMod val="76000"/>
                  </a:schemeClr>
                </a:solidFill>
                <a:latin typeface="Batang"/>
                <a:ea typeface="Batang"/>
                <a:cs typeface="Trebuchet MS" pitchFamily="34" charset="-120"/>
              </a:rPr>
              <a:t>A high weather index or even traffic index on a short route barely moves the needle. The same on a very long route compounds into hours of delay.</a:t>
            </a:r>
            <a:endParaRPr lang="en-US" sz="1500" b="1" dirty="0">
              <a:solidFill>
                <a:schemeClr val="bg2">
                  <a:lumMod val="76000"/>
                </a:schemeClr>
              </a:solidFill>
              <a:latin typeface="Batang"/>
              <a:ea typeface="Batang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chemeClr val="bg2">
                    <a:lumMod val="76000"/>
                  </a:schemeClr>
                </a:solidFill>
                <a:latin typeface="Batang"/>
                <a:ea typeface="Batang"/>
                <a:cs typeface="Trebuchet MS" pitchFamily="34" charset="-120"/>
              </a:rPr>
              <a:t>This single insight unlocked the model's predictive </a:t>
            </a:r>
            <a:r>
              <a:rPr lang="en-US" sz="1500" b="1">
                <a:solidFill>
                  <a:schemeClr val="bg2">
                    <a:lumMod val="76000"/>
                  </a:schemeClr>
                </a:solidFill>
                <a:latin typeface="Batang"/>
                <a:ea typeface="Batang"/>
                <a:cs typeface="Trebuchet MS" pitchFamily="34" charset="-120"/>
              </a:rPr>
              <a:t>power. </a:t>
            </a:r>
            <a:endParaRPr lang="en-US" sz="1500" b="1">
              <a:solidFill>
                <a:schemeClr val="bg2">
                  <a:lumMod val="76000"/>
                </a:schemeClr>
              </a:solidFill>
              <a:latin typeface="Batang"/>
              <a:ea typeface="Batang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11481" y="5073482"/>
            <a:ext cx="4390269" cy="1224089"/>
          </a:xfrm>
          <a:prstGeom prst="rect">
            <a:avLst/>
          </a:prstGeom>
          <a:solidFill>
            <a:srgbClr val="EDEAF5"/>
          </a:solidFill>
          <a:ln w="6350">
            <a:solidFill>
              <a:schemeClr val="bg2">
                <a:lumMod val="20000"/>
                <a:lumOff val="8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38775" y="5222432"/>
            <a:ext cx="178164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9A97AD"/>
                </a:solidFill>
                <a:latin typeface="Batang"/>
                <a:ea typeface="Batang"/>
                <a:cs typeface="Trebuchet MS" pitchFamily="34" charset="-120"/>
              </a:rPr>
              <a:t>Short route + </a:t>
            </a:r>
            <a:endParaRPr lang="en-US" sz="1500" b="1">
              <a:solidFill>
                <a:srgbClr val="FFFFFF"/>
              </a:solidFill>
              <a:latin typeface="Batang"/>
              <a:ea typeface="Batang"/>
              <a:cs typeface="Calibri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9A97AD"/>
                </a:solidFill>
                <a:latin typeface="Batang"/>
                <a:ea typeface="Batang"/>
                <a:cs typeface="Trebuchet MS" pitchFamily="34" charset="-120"/>
              </a:rPr>
              <a:t>bad weather</a:t>
            </a:r>
            <a:endParaRPr lang="en-US" sz="1500" b="1">
              <a:latin typeface="Batang"/>
              <a:ea typeface="Batang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38775" y="5730643"/>
            <a:ext cx="1292813" cy="46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50" b="1">
                <a:solidFill>
                  <a:srgbClr val="3D3B58"/>
                </a:solidFill>
                <a:latin typeface="Batang"/>
                <a:ea typeface="Batang"/>
                <a:cs typeface="Trebuchet MS" pitchFamily="34" charset="-120"/>
              </a:rPr>
              <a:t>≈ Less impact</a:t>
            </a:r>
            <a:endParaRPr lang="en-US" sz="1550" b="1">
              <a:latin typeface="Batang"/>
              <a:ea typeface="Batang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050013" y="5222432"/>
            <a:ext cx="17385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>
                <a:solidFill>
                  <a:srgbClr val="9A97AD"/>
                </a:solidFill>
                <a:latin typeface="Batang"/>
                <a:ea typeface="Batang"/>
                <a:cs typeface="Trebuchet MS" pitchFamily="34" charset="-120"/>
              </a:rPr>
              <a:t>Long route +</a:t>
            </a:r>
            <a:endParaRPr lang="en-US" sz="1500" b="1">
              <a:solidFill>
                <a:srgbClr val="FFFFFF"/>
              </a:solidFill>
              <a:latin typeface="Batang"/>
              <a:ea typeface="Batang"/>
              <a:cs typeface="Calibri"/>
            </a:endParaRPr>
          </a:p>
          <a:p>
            <a:r>
              <a:rPr lang="en-US" sz="1500" b="1" dirty="0">
                <a:solidFill>
                  <a:srgbClr val="9A97AD"/>
                </a:solidFill>
                <a:latin typeface="Batang"/>
                <a:ea typeface="Batang"/>
                <a:cs typeface="Trebuchet MS" pitchFamily="34" charset="-120"/>
              </a:rPr>
              <a:t>bad weather</a:t>
            </a:r>
            <a:endParaRPr lang="en-US" sz="1500" b="1" dirty="0">
              <a:latin typeface="Batang"/>
              <a:ea typeface="Batang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050013" y="5730642"/>
            <a:ext cx="1379077" cy="46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chemeClr val="bg2">
                    <a:lumMod val="76000"/>
                  </a:schemeClr>
                </a:solidFill>
                <a:latin typeface="Batang"/>
                <a:ea typeface="Batang"/>
                <a:cs typeface="Trebuchet MS" pitchFamily="34" charset="-120"/>
              </a:rPr>
              <a:t>Hours of delay</a:t>
            </a:r>
            <a:endParaRPr lang="en-US" sz="1550" b="1">
              <a:solidFill>
                <a:schemeClr val="bg2">
                  <a:lumMod val="76000"/>
                </a:schemeClr>
              </a:solidFill>
              <a:latin typeface="Batang"/>
              <a:ea typeface="Batang"/>
              <a:cs typeface="Calibri"/>
            </a:endParaRPr>
          </a:p>
        </p:txBody>
      </p:sp>
      <p:pic>
        <p:nvPicPr>
          <p:cNvPr id="15" name="Picture 14" descr="A graph with blue and pink dots&#10;&#10;AI-generated content may be incorrect.">
            <a:extLst>
              <a:ext uri="{FF2B5EF4-FFF2-40B4-BE49-F238E27FC236}">
                <a16:creationId xmlns:a16="http://schemas.microsoft.com/office/drawing/2014/main" id="{CACC4AC3-442D-1ADD-950A-8214E71AB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306" y="260587"/>
            <a:ext cx="4252104" cy="33319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9B126AC-A468-7809-89DE-5123377DAE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821" y="3597036"/>
            <a:ext cx="4309074" cy="29419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C47F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 · PRIORITIZATION STRATEGY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C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Risk-Based Priority Scoring</a:t>
            </a:r>
            <a:endParaRPr lang="en-US" sz="340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5303520" cy="5212080"/>
          </a:xfrm>
          <a:prstGeom prst="rect">
            <a:avLst/>
          </a:prstGeom>
          <a:solidFill>
            <a:srgbClr val="F7EDD4"/>
          </a:solidFill>
          <a:ln w="12700">
            <a:solidFill>
              <a:schemeClr val="bg2">
                <a:lumMod val="40000"/>
                <a:lumOff val="6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25880"/>
            <a:ext cx="53035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>
                <a:solidFill>
                  <a:srgbClr val="1C1C2E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Priority Score Formula</a:t>
            </a:r>
            <a:endParaRPr lang="en-US">
              <a:solidFill>
                <a:srgbClr val="1C1C2E"/>
              </a:solidFill>
              <a:latin typeface="Trebuchet MS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202996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chemeClr val="bg2">
                    <a:lumMod val="76000"/>
                  </a:schemeClr>
                </a:solidFill>
                <a:latin typeface="Consolas"/>
                <a:ea typeface="Consolas" pitchFamily="34" charset="-122"/>
                <a:cs typeface="Consolas" pitchFamily="34" charset="-120"/>
              </a:rPr>
              <a:t>predicted_delay</a:t>
            </a:r>
            <a:endParaRPr lang="en-US" sz="1050" b="1">
              <a:solidFill>
                <a:schemeClr val="bg2">
                  <a:lumMod val="76000"/>
                </a:schemeClr>
              </a:solidFill>
              <a:latin typeface="Consolas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3474720" y="204825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97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signal — predicted delay in hours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594360" y="25786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bg2">
                    <a:lumMod val="76000"/>
                  </a:schemeClr>
                </a:solidFill>
                <a:latin typeface="Consolas"/>
                <a:ea typeface="Consolas" pitchFamily="34" charset="-122"/>
                <a:cs typeface="Consolas" pitchFamily="34" charset="-120"/>
              </a:rPr>
              <a:t>× (1 + 0.5 × </a:t>
            </a:r>
            <a:r>
              <a:rPr lang="en-US" sz="1050" b="1" dirty="0" err="1">
                <a:solidFill>
                  <a:schemeClr val="bg2">
                    <a:lumMod val="76000"/>
                  </a:schemeClr>
                </a:solidFill>
                <a:latin typeface="Consolas"/>
                <a:ea typeface="Consolas" pitchFamily="34" charset="-122"/>
                <a:cs typeface="Consolas" pitchFamily="34" charset="-120"/>
              </a:rPr>
              <a:t>priority_encoded</a:t>
            </a:r>
            <a:r>
              <a:rPr lang="en-US" sz="1050" b="1" dirty="0">
                <a:solidFill>
                  <a:schemeClr val="bg2">
                    <a:lumMod val="76000"/>
                  </a:schemeClr>
                </a:solidFill>
                <a:latin typeface="Consolas"/>
                <a:ea typeface="Consolas" pitchFamily="34" charset="-122"/>
                <a:cs typeface="Consolas" pitchFamily="34" charset="-120"/>
              </a:rPr>
              <a:t>)</a:t>
            </a:r>
            <a:endParaRPr lang="en-US" sz="1050" b="1">
              <a:solidFill>
                <a:schemeClr val="bg2">
                  <a:lumMod val="76000"/>
                </a:schemeClr>
              </a:solidFill>
              <a:latin typeface="Consolas"/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474720" y="259689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97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priority amplifier (High=3, Med=2, Low=1)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594360" y="31272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bg2">
                    <a:lumMod val="76000"/>
                  </a:schemeClr>
                </a:solidFill>
                <a:latin typeface="Consolas"/>
                <a:ea typeface="Consolas" pitchFamily="34" charset="-122"/>
                <a:cs typeface="Consolas" pitchFamily="34" charset="-120"/>
              </a:rPr>
              <a:t>× (1 + 0.3 × </a:t>
            </a:r>
            <a:r>
              <a:rPr lang="en-US" sz="1050" b="1" dirty="0" err="1">
                <a:solidFill>
                  <a:schemeClr val="bg2">
                    <a:lumMod val="76000"/>
                  </a:schemeClr>
                </a:solidFill>
                <a:latin typeface="Consolas"/>
                <a:ea typeface="Consolas" pitchFamily="34" charset="-122"/>
                <a:cs typeface="Consolas" pitchFamily="34" charset="-120"/>
              </a:rPr>
              <a:t>demand_norm</a:t>
            </a:r>
            <a:r>
              <a:rPr lang="en-US" sz="1050" b="1" dirty="0">
                <a:solidFill>
                  <a:schemeClr val="bg2">
                    <a:lumMod val="76000"/>
                  </a:schemeClr>
                </a:solidFill>
                <a:latin typeface="Consolas"/>
                <a:ea typeface="Consolas" pitchFamily="34" charset="-122"/>
                <a:cs typeface="Consolas" pitchFamily="34" charset="-120"/>
              </a:rPr>
              <a:t>)</a:t>
            </a:r>
            <a:endParaRPr lang="en-US" sz="1050" b="1">
              <a:solidFill>
                <a:schemeClr val="bg2">
                  <a:lumMod val="76000"/>
                </a:schemeClr>
              </a:solidFill>
              <a:latin typeface="Consolas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74720" y="314553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97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Downstream impact — high-demand sites have less slack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594360" y="367588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(1 + 0.3 × traffic_index)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3474720" y="369417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97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traffic risk at route level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594360" y="42245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(1 + 0.3 × weather_index)</a:t>
            </a:r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3474720" y="424281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97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weather risk at route level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594360" y="477316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(1 + 0.5 × risk_escalation)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3474720" y="479145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97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Combined risk surge: avg(weather + traffic)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594360" y="53218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A97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(1 + 0.2×w_dist + 0.15×t_dist + …)</a:t>
            </a:r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3474720" y="534009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97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Additive exposure refinement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5989320" y="1325880"/>
            <a:ext cx="576072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72200" y="150876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C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These Weights?</a:t>
            </a:r>
            <a:endParaRPr lang="en-US" sz="1450"/>
          </a:p>
        </p:txBody>
      </p:sp>
      <p:sp>
        <p:nvSpPr>
          <p:cNvPr id="23" name="Shape 21"/>
          <p:cNvSpPr/>
          <p:nvPr/>
        </p:nvSpPr>
        <p:spPr>
          <a:xfrm>
            <a:off x="6172200" y="2103120"/>
            <a:ext cx="5394960" cy="822960"/>
          </a:xfrm>
          <a:prstGeom prst="rect">
            <a:avLst/>
          </a:prstGeom>
          <a:solidFill>
            <a:srgbClr val="EDEAF5"/>
          </a:solidFill>
          <a:ln w="6350">
            <a:solidFill>
              <a:srgbClr val="E8E4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2103120"/>
            <a:ext cx="64008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21579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 Priority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6355080" y="245059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D3B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Highest amplifier — represents an explicit business commitment. High-priority deliveries failing has direct customer impact.</a:t>
            </a:r>
            <a:endParaRPr lang="en-US" sz="1050"/>
          </a:p>
        </p:txBody>
      </p:sp>
      <p:sp>
        <p:nvSpPr>
          <p:cNvPr id="27" name="Shape 25"/>
          <p:cNvSpPr/>
          <p:nvPr/>
        </p:nvSpPr>
        <p:spPr>
          <a:xfrm>
            <a:off x="6172200" y="3108960"/>
            <a:ext cx="5394960" cy="822960"/>
          </a:xfrm>
          <a:prstGeom prst="rect">
            <a:avLst/>
          </a:prstGeom>
          <a:solidFill>
            <a:srgbClr val="EDEAF5"/>
          </a:solidFill>
          <a:ln w="6350">
            <a:solidFill>
              <a:srgbClr val="E8E4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2200" y="3108960"/>
            <a:ext cx="64008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31638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 Risk Escalation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6355080" y="345643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D3B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Equal to priority — simultaneous weather + traffic surge demands immediate response before delay compounds.</a:t>
            </a:r>
            <a:endParaRPr lang="en-US" sz="1050"/>
          </a:p>
        </p:txBody>
      </p:sp>
      <p:sp>
        <p:nvSpPr>
          <p:cNvPr id="31" name="Shape 29"/>
          <p:cNvSpPr/>
          <p:nvPr/>
        </p:nvSpPr>
        <p:spPr>
          <a:xfrm>
            <a:off x="6172200" y="4114800"/>
            <a:ext cx="5394960" cy="822960"/>
          </a:xfrm>
          <a:prstGeom prst="rect">
            <a:avLst/>
          </a:prstGeom>
          <a:solidFill>
            <a:srgbClr val="EDEAF5"/>
          </a:solidFill>
          <a:ln w="6350">
            <a:solidFill>
              <a:srgbClr val="E8E4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72200" y="4114800"/>
            <a:ext cx="64008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41696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0.3 Demand</a:t>
            </a:r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6355080" y="446227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D3B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High-demand project sites have less operational slack. A late delivery there has greater downstream disruption.</a:t>
            </a:r>
            <a:endParaRPr lang="en-US" sz="1050"/>
          </a:p>
        </p:txBody>
      </p:sp>
      <p:sp>
        <p:nvSpPr>
          <p:cNvPr id="35" name="Shape 33"/>
          <p:cNvSpPr/>
          <p:nvPr/>
        </p:nvSpPr>
        <p:spPr>
          <a:xfrm>
            <a:off x="6172200" y="5120640"/>
            <a:ext cx="5394960" cy="822960"/>
          </a:xfrm>
          <a:prstGeom prst="rect">
            <a:avLst/>
          </a:prstGeom>
          <a:solidFill>
            <a:srgbClr val="EDEAF5"/>
          </a:solidFill>
          <a:ln w="6350">
            <a:solidFill>
              <a:srgbClr val="E8E4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72200" y="5120640"/>
            <a:ext cx="64008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51755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0.3 Traffic / Weather</a:t>
            </a:r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6355080" y="546811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D3B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Integrates live conditions even after exposure features — ensures current risk is always reflected in scores.</a:t>
            </a:r>
            <a:endParaRPr lang="en-US" sz="10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>
                <a:solidFill>
                  <a:srgbClr val="F5A623"/>
                </a:solidFill>
                <a:latin typeface="Trebuchet MS"/>
              </a:rPr>
              <a:t>Stratrgy Comparison</a:t>
            </a: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>
                <a:solidFill>
                  <a:schemeClr val="bg2">
                    <a:lumMod val="76000"/>
                  </a:schemeClr>
                </a:solidFill>
                <a:latin typeface="Trebuchet MS"/>
                <a:ea typeface="Calibri"/>
                <a:cs typeface="Calibri"/>
              </a:rPr>
              <a:t>Optimization &amp; Reward System</a:t>
            </a:r>
            <a:endParaRPr lang="en-US" sz="3400">
              <a:solidFill>
                <a:schemeClr val="bg2">
                  <a:lumMod val="76000"/>
                </a:schemeClr>
              </a:solidFill>
              <a:latin typeface="Trebuchet MS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1369012"/>
            <a:ext cx="4904404" cy="4071668"/>
          </a:xfrm>
          <a:prstGeom prst="rect">
            <a:avLst/>
          </a:prstGeom>
          <a:solidFill>
            <a:srgbClr val="252538"/>
          </a:solidFill>
          <a:ln w="6350">
            <a:solidFill>
              <a:srgbClr val="2A2A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82748"/>
            <a:ext cx="4904404" cy="7838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087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Reward Function Rules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594360" y="2029968"/>
            <a:ext cx="3474720" cy="621792"/>
          </a:xfrm>
          <a:prstGeom prst="rect">
            <a:avLst/>
          </a:prstGeom>
          <a:solidFill>
            <a:srgbClr val="2A2A40"/>
          </a:solidFill>
          <a:ln w="3810">
            <a:solidFill>
              <a:srgbClr val="3D3B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214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EE8A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+10 pts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1783080" y="213969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A97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within 2 hrs of expected time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594360" y="2779776"/>
            <a:ext cx="3474720" cy="621792"/>
          </a:xfrm>
          <a:prstGeom prst="rect">
            <a:avLst/>
          </a:prstGeom>
          <a:solidFill>
            <a:srgbClr val="2A2A40"/>
          </a:solidFill>
          <a:ln w="3810">
            <a:solidFill>
              <a:srgbClr val="3D3B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7121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−15 pts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1783080" y="288950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A97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exceeds 2-hour threshold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594360" y="3529584"/>
            <a:ext cx="3474720" cy="621792"/>
          </a:xfrm>
          <a:prstGeom prst="rect">
            <a:avLst/>
          </a:prstGeom>
          <a:solidFill>
            <a:srgbClr val="2A2A40"/>
          </a:solidFill>
          <a:ln w="3810">
            <a:solidFill>
              <a:srgbClr val="3D3B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62102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+5 pts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1783080" y="36393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9A97AD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High priority delivery scheduled</a:t>
            </a:r>
            <a:endParaRPr lang="en-US" sz="1100">
              <a:latin typeface="Trebuchet M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94360" y="4279392"/>
            <a:ext cx="3474720" cy="621792"/>
          </a:xfrm>
          <a:prstGeom prst="rect">
            <a:avLst/>
          </a:prstGeom>
          <a:solidFill>
            <a:srgbClr val="2A2A40"/>
          </a:solidFill>
          <a:ln w="3810">
            <a:solidFill>
              <a:srgbClr val="3D3B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3708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−2 pts/hr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1783080" y="43891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A97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 excess hour beyond threshold (cap: 10hrs)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594360" y="50474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9A97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100 deliveries selected per strategy across 1 simulation run.</a:t>
            </a:r>
            <a:endParaRPr lang="en-US" sz="950"/>
          </a:p>
        </p:txBody>
      </p:sp>
      <p:sp>
        <p:nvSpPr>
          <p:cNvPr id="21" name="Shape 18"/>
          <p:cNvSpPr/>
          <p:nvPr/>
        </p:nvSpPr>
        <p:spPr>
          <a:xfrm>
            <a:off x="411480" y="5715000"/>
            <a:ext cx="11338560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5742432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C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Dispatch scored ~196% higher than random and ~64% higher than distance-based scheduling.</a:t>
            </a:r>
            <a:endParaRPr lang="en-US" sz="1400"/>
          </a:p>
        </p:txBody>
      </p:sp>
      <p:pic>
        <p:nvPicPr>
          <p:cNvPr id="20" name="Picture 19" descr="A graph of blue squares&#10;&#10;AI-generated content may be incorrect.">
            <a:extLst>
              <a:ext uri="{FF2B5EF4-FFF2-40B4-BE49-F238E27FC236}">
                <a16:creationId xmlns:a16="http://schemas.microsoft.com/office/drawing/2014/main" id="{0404C916-198B-6546-5ED5-5797E1C9E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035" y="1285426"/>
            <a:ext cx="5825705" cy="42440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1371600"/>
            <a:ext cx="4572000" cy="4572000"/>
          </a:xfrm>
          <a:prstGeom prst="ellipse">
            <a:avLst/>
          </a:prstGeom>
          <a:solidFill>
            <a:srgbClr val="2A2A40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750040" y="0"/>
            <a:ext cx="411480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 · CONCLUSIONS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chemeClr val="bg2">
                    <a:lumMod val="76000"/>
                  </a:schemeClr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What This System Delivers</a:t>
            </a:r>
            <a:endParaRPr lang="en-US" sz="3400">
              <a:solidFill>
                <a:schemeClr val="bg2">
                  <a:lumMod val="76000"/>
                </a:schemeClr>
              </a:solidFill>
              <a:latin typeface="Trebuchet MS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36576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89888"/>
            <a:ext cx="7772400" cy="822960"/>
          </a:xfrm>
          <a:prstGeom prst="rect">
            <a:avLst/>
          </a:prstGeom>
          <a:solidFill>
            <a:srgbClr val="F7EDD4"/>
          </a:solidFill>
          <a:ln w="6350">
            <a:solidFill>
              <a:srgbClr val="2A2A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389888"/>
            <a:ext cx="548640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5448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C1C2E"/>
                </a:solidFill>
                <a:latin typeface="Batang"/>
                <a:ea typeface="Batang"/>
                <a:cs typeface="Trebuchet MS" pitchFamily="34" charset="-120"/>
              </a:rPr>
              <a:t>01</a:t>
            </a:r>
            <a:endParaRPr lang="en-US" sz="1800">
              <a:latin typeface="Batang"/>
              <a:ea typeface="Batang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97280" y="145389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bg2">
                    <a:lumMod val="76000"/>
                  </a:schemeClr>
                </a:solidFill>
                <a:latin typeface="Batang"/>
                <a:ea typeface="Batang"/>
                <a:cs typeface="Trebuchet MS" pitchFamily="34" charset="-120"/>
              </a:rPr>
              <a:t>Strong Predictive Power</a:t>
            </a:r>
            <a:endParaRPr lang="en-US" sz="1300">
              <a:solidFill>
                <a:schemeClr val="bg2">
                  <a:lumMod val="76000"/>
                </a:schemeClr>
              </a:solidFill>
              <a:latin typeface="Batang"/>
              <a:ea typeface="Batang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97280" y="1828800"/>
            <a:ext cx="6995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A97AD"/>
                </a:solidFill>
                <a:latin typeface="Batang"/>
                <a:ea typeface="Batang"/>
                <a:cs typeface="Trebuchet MS" pitchFamily="34" charset="-120"/>
              </a:rPr>
              <a:t>R² = 0.805 — the model explains 80.5% of delay variance with MAE ≈ 1.53 hrs.</a:t>
            </a:r>
            <a:endParaRPr lang="en-US" sz="1300">
              <a:latin typeface="Batang"/>
              <a:ea typeface="Batang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1480" y="2359152"/>
            <a:ext cx="7772400" cy="822960"/>
          </a:xfrm>
          <a:prstGeom prst="rect">
            <a:avLst/>
          </a:prstGeom>
          <a:solidFill>
            <a:srgbClr val="F7EDD4"/>
          </a:solidFill>
          <a:ln w="6350">
            <a:solidFill>
              <a:srgbClr val="2A2A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359152"/>
            <a:ext cx="548640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23744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C1C2E"/>
                </a:solidFill>
                <a:latin typeface="Batang"/>
                <a:ea typeface="Batang"/>
                <a:cs typeface="Trebuchet MS" pitchFamily="34" charset="-120"/>
              </a:rPr>
              <a:t>02</a:t>
            </a:r>
            <a:endParaRPr lang="en-US" sz="1800">
              <a:latin typeface="Batang"/>
              <a:ea typeface="Batang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97280" y="24231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bg2">
                    <a:lumMod val="76000"/>
                  </a:schemeClr>
                </a:solidFill>
                <a:latin typeface="Batang"/>
                <a:ea typeface="Batang"/>
                <a:cs typeface="Trebuchet MS" pitchFamily="34" charset="-120"/>
              </a:rPr>
              <a:t>Exposure is the Core Driver</a:t>
            </a:r>
            <a:endParaRPr lang="en-US" sz="1300">
              <a:solidFill>
                <a:schemeClr val="bg2">
                  <a:lumMod val="76000"/>
                </a:schemeClr>
              </a:solidFill>
              <a:latin typeface="Batang"/>
              <a:ea typeface="Batang"/>
              <a:cs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97280" y="2798064"/>
            <a:ext cx="6995160" cy="320040"/>
          </a:xfrm>
          <a:prstGeom prst="rect">
            <a:avLst/>
          </a:prstGeom>
          <a:solidFill>
            <a:srgbClr val="F7EDD4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A97AD"/>
                </a:solidFill>
                <a:latin typeface="Batang"/>
                <a:ea typeface="Batang"/>
                <a:cs typeface="Trebuchet MS" pitchFamily="34" charset="-120"/>
              </a:rPr>
              <a:t>weather × distance and traffic × distance outrank all raw individual features in SHAP analysis.</a:t>
            </a:r>
            <a:endParaRPr lang="en-US" sz="1300">
              <a:latin typeface="Batang"/>
              <a:ea typeface="Batang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11480" y="3328416"/>
            <a:ext cx="7772400" cy="822960"/>
          </a:xfrm>
          <a:prstGeom prst="rect">
            <a:avLst/>
          </a:prstGeom>
          <a:solidFill>
            <a:srgbClr val="F7EDD4"/>
          </a:solidFill>
          <a:ln w="6350">
            <a:solidFill>
              <a:srgbClr val="2A2A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328416"/>
            <a:ext cx="548640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49300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C1C2E"/>
                </a:solidFill>
                <a:latin typeface="Batang"/>
                <a:ea typeface="Batang"/>
                <a:cs typeface="Trebuchet MS" pitchFamily="34" charset="-120"/>
              </a:rPr>
              <a:t>03</a:t>
            </a:r>
            <a:endParaRPr lang="en-US" sz="1800">
              <a:latin typeface="Batang"/>
              <a:ea typeface="Batang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97280" y="339242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bg2">
                    <a:lumMod val="76000"/>
                  </a:schemeClr>
                </a:solidFill>
                <a:latin typeface="Batang"/>
                <a:ea typeface="Batang"/>
                <a:cs typeface="Trebuchet MS" pitchFamily="34" charset="-120"/>
              </a:rPr>
              <a:t>Multi-Factor Urgency Scoring</a:t>
            </a:r>
            <a:endParaRPr lang="en-US" sz="1300">
              <a:solidFill>
                <a:schemeClr val="bg2">
                  <a:lumMod val="76000"/>
                </a:schemeClr>
              </a:solidFill>
              <a:latin typeface="Batang"/>
              <a:ea typeface="Batang"/>
              <a:cs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97280" y="3767328"/>
            <a:ext cx="6995160" cy="320040"/>
          </a:xfrm>
          <a:prstGeom prst="rect">
            <a:avLst/>
          </a:prstGeom>
          <a:solidFill>
            <a:srgbClr val="F7EDD4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A97AD"/>
                </a:solidFill>
                <a:latin typeface="Batang"/>
                <a:ea typeface="Batang"/>
                <a:cs typeface="Trebuchet MS" pitchFamily="34" charset="-120"/>
              </a:rPr>
              <a:t>The priority score integrates delay prediction, demand, priority, and live risk into one actionable ranking.</a:t>
            </a:r>
            <a:endParaRPr lang="en-US" sz="1300">
              <a:latin typeface="Batang"/>
              <a:ea typeface="Batang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11480" y="4297680"/>
            <a:ext cx="7772400" cy="822960"/>
          </a:xfrm>
          <a:prstGeom prst="rect">
            <a:avLst/>
          </a:prstGeom>
          <a:solidFill>
            <a:srgbClr val="F7EDD4"/>
          </a:solidFill>
          <a:ln w="6350">
            <a:solidFill>
              <a:srgbClr val="2A2A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4297680"/>
            <a:ext cx="548640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46227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C1C2E"/>
                </a:solidFill>
                <a:latin typeface="Batang"/>
                <a:ea typeface="Batang"/>
                <a:cs typeface="Trebuchet MS" pitchFamily="34" charset="-120"/>
              </a:rPr>
              <a:t>04</a:t>
            </a:r>
            <a:endParaRPr lang="en-US" sz="1800">
              <a:latin typeface="Batang"/>
              <a:ea typeface="Batang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97280" y="43616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bg2">
                    <a:lumMod val="76000"/>
                  </a:schemeClr>
                </a:solidFill>
                <a:latin typeface="Batang"/>
                <a:ea typeface="Batang"/>
                <a:cs typeface="Trebuchet MS" pitchFamily="34" charset="-120"/>
              </a:rPr>
              <a:t>ML Dispatch Outperforms Heuristics</a:t>
            </a:r>
            <a:endParaRPr lang="en-US" sz="1300">
              <a:solidFill>
                <a:schemeClr val="bg2">
                  <a:lumMod val="76000"/>
                </a:schemeClr>
              </a:solidFill>
              <a:latin typeface="Batang"/>
              <a:ea typeface="Batang"/>
              <a:cs typeface="Calibri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97280" y="4736592"/>
            <a:ext cx="6995160" cy="320040"/>
          </a:xfrm>
          <a:prstGeom prst="rect">
            <a:avLst/>
          </a:prstGeom>
          <a:solidFill>
            <a:srgbClr val="F7EDD4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A97AD"/>
                </a:solidFill>
                <a:latin typeface="Batang"/>
                <a:ea typeface="Batang"/>
                <a:cs typeface="Trebuchet MS" pitchFamily="34" charset="-120"/>
              </a:rPr>
              <a:t>~196% higher reward than random, ~64% higher than distance-based scheduling in simulation.</a:t>
            </a:r>
            <a:endParaRPr lang="en-US" sz="1300">
              <a:latin typeface="Batang"/>
              <a:ea typeface="Batang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11480" y="5266944"/>
            <a:ext cx="7772400" cy="822960"/>
          </a:xfrm>
          <a:prstGeom prst="rect">
            <a:avLst/>
          </a:prstGeom>
          <a:solidFill>
            <a:srgbClr val="F7EDD4"/>
          </a:solidFill>
          <a:ln w="6350">
            <a:solidFill>
              <a:srgbClr val="2A2A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5266944"/>
            <a:ext cx="548640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543153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C1C2E"/>
                </a:solidFill>
                <a:latin typeface="Batang"/>
                <a:ea typeface="Batang"/>
                <a:cs typeface="Trebuchet MS" pitchFamily="34" charset="-120"/>
              </a:rPr>
              <a:t>05</a:t>
            </a:r>
            <a:endParaRPr lang="en-US" sz="1800">
              <a:latin typeface="Batang"/>
              <a:ea typeface="Batang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97280" y="53309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bg2">
                    <a:lumMod val="76000"/>
                  </a:schemeClr>
                </a:solidFill>
                <a:latin typeface="Batang"/>
                <a:ea typeface="Batang"/>
                <a:cs typeface="Trebuchet MS" pitchFamily="34" charset="-120"/>
              </a:rPr>
              <a:t>Decision Intelligence, Not Just Prediction</a:t>
            </a:r>
            <a:endParaRPr lang="en-US" sz="1300">
              <a:solidFill>
                <a:schemeClr val="bg2">
                  <a:lumMod val="76000"/>
                </a:schemeClr>
              </a:solidFill>
              <a:latin typeface="Batang"/>
              <a:ea typeface="Batang"/>
              <a:cs typeface="Calibri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97280" y="5705856"/>
            <a:ext cx="6995160" cy="320040"/>
          </a:xfrm>
          <a:prstGeom prst="rect">
            <a:avLst/>
          </a:prstGeom>
          <a:solidFill>
            <a:srgbClr val="F7EDD4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A97AD"/>
                </a:solidFill>
                <a:latin typeface="Batang"/>
                <a:ea typeface="Batang"/>
                <a:cs typeface="Trebuchet MS" pitchFamily="34" charset="-120"/>
              </a:rPr>
              <a:t>This system enables proactive scheduling decisions — not just postmortem delay reports.</a:t>
            </a:r>
            <a:endParaRPr lang="en-US" sz="1300">
              <a:latin typeface="Batang"/>
              <a:ea typeface="Batang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Delivery Delay Prediction &amp; Intelligent Scheduling</dc:title>
  <dc:subject>PptxGenJS Presentation</dc:subject>
  <dc:creator>PptxGenJS</dc:creator>
  <cp:revision>302</cp:revision>
  <dcterms:created xsi:type="dcterms:W3CDTF">2026-04-23T05:41:27Z</dcterms:created>
  <dcterms:modified xsi:type="dcterms:W3CDTF">2026-04-23T14:28:11Z</dcterms:modified>
</cp:coreProperties>
</file>